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3" r:id="rId7"/>
    <p:sldId id="262" r:id="rId8"/>
    <p:sldId id="264" r:id="rId9"/>
    <p:sldId id="266" r:id="rId10"/>
    <p:sldId id="265" r:id="rId11"/>
    <p:sldId id="268" r:id="rId12"/>
    <p:sldId id="267" r:id="rId13"/>
    <p:sldId id="270" r:id="rId14"/>
    <p:sldId id="269" r:id="rId15"/>
    <p:sldId id="272" r:id="rId16"/>
    <p:sldId id="271" r:id="rId17"/>
    <p:sldId id="274" r:id="rId18"/>
    <p:sldId id="273" r:id="rId19"/>
  </p:sldIdLst>
  <p:sldSz cx="9601200" cy="12801600" type="A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12E"/>
    <a:srgbClr val="1D2E65"/>
    <a:srgbClr val="78AFC3"/>
    <a:srgbClr val="3E1831"/>
    <a:srgbClr val="38112C"/>
    <a:srgbClr val="70A7B3"/>
    <a:srgbClr val="9DD7DC"/>
    <a:srgbClr val="12172D"/>
    <a:srgbClr val="203154"/>
    <a:srgbClr val="213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B409FC-26A2-489E-B64E-DBDDE4C02282}" v="1171" dt="2025-11-09T09:23:33.957"/>
    <p1510:client id="{C4E4CB40-F569-E485-ECBA-A12B1D1951C8}" v="1091" dt="2025-11-09T05:48:50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00150" y="2095078"/>
            <a:ext cx="7200900" cy="4456853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Seletores CSS para heróis do código.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Seletores CSS para heróis do código.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5082" y="3191512"/>
            <a:ext cx="8281035" cy="5325109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55082" y="8566999"/>
            <a:ext cx="8281035" cy="28003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Seletores CSS para heróis do código.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Seletores CSS para heróis do código.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1333" y="681568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860607" y="3138171"/>
            <a:ext cx="4081761" cy="1537969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860607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Seletores CSS para heróis do código.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Seletores CSS para heróis do código.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Seletores CSS para heróis do código.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081760" y="1843194"/>
            <a:ext cx="4860608" cy="9097433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Seletores CSS para heróis do código.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081760" y="1843194"/>
            <a:ext cx="4860608" cy="9097433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Seletores CSS para heróis do código.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Seletores CSS para heróis do código.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Seletores CSS para heróis do código.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60083" y="681568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60083" y="11865187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80398" y="11865187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Seletores CSS para heróis do código.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780848" y="11865187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juliavieira97" TargetMode="External"/><Relationship Id="rId4" Type="http://schemas.openxmlformats.org/officeDocument/2006/relationships/hyperlink" Target="http://linkedin.com/in/julia-vieira-26317428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80A0794-D437-9FF3-5443-EDC6CCCA21FB}"/>
              </a:ext>
            </a:extLst>
          </p:cNvPr>
          <p:cNvSpPr/>
          <p:nvPr/>
        </p:nvSpPr>
        <p:spPr>
          <a:xfrm>
            <a:off x="-29892" y="-19515"/>
            <a:ext cx="9625098" cy="12823500"/>
          </a:xfrm>
          <a:prstGeom prst="rect">
            <a:avLst/>
          </a:prstGeom>
          <a:solidFill>
            <a:srgbClr val="1217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40B2DA-EC71-A34F-EC40-EF0D115E51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93" r="-166" b="8060"/>
          <a:stretch>
            <a:fillRect/>
          </a:stretch>
        </p:blipFill>
        <p:spPr>
          <a:xfrm>
            <a:off x="-27655" y="3173902"/>
            <a:ext cx="9606482" cy="9637018"/>
          </a:xfrm>
          <a:prstGeom prst="rect">
            <a:avLst/>
          </a:prstGeom>
          <a:ln>
            <a:noFill/>
          </a:ln>
        </p:spPr>
      </p:pic>
      <p:sp>
        <p:nvSpPr>
          <p:cNvPr id="2" name="Explosão: 8 Pontos 1">
            <a:extLst>
              <a:ext uri="{FF2B5EF4-FFF2-40B4-BE49-F238E27FC236}">
                <a16:creationId xmlns:a16="http://schemas.microsoft.com/office/drawing/2014/main" id="{785FED8B-A703-E404-1C4B-E9CE21822219}"/>
              </a:ext>
            </a:extLst>
          </p:cNvPr>
          <p:cNvSpPr/>
          <p:nvPr/>
        </p:nvSpPr>
        <p:spPr>
          <a:xfrm>
            <a:off x="234572" y="331485"/>
            <a:ext cx="9290438" cy="4167992"/>
          </a:xfrm>
          <a:prstGeom prst="irregularSeal1">
            <a:avLst/>
          </a:prstGeom>
          <a:solidFill>
            <a:srgbClr val="3E1831"/>
          </a:solidFill>
          <a:ln w="57150">
            <a:solidFill>
              <a:srgbClr val="38112C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xplosão: 8 Pontos 2">
            <a:extLst>
              <a:ext uri="{FF2B5EF4-FFF2-40B4-BE49-F238E27FC236}">
                <a16:creationId xmlns:a16="http://schemas.microsoft.com/office/drawing/2014/main" id="{1A587349-1C79-18AA-29CD-5C9928FAB0C7}"/>
              </a:ext>
            </a:extLst>
          </p:cNvPr>
          <p:cNvSpPr/>
          <p:nvPr/>
        </p:nvSpPr>
        <p:spPr>
          <a:xfrm>
            <a:off x="449232" y="463278"/>
            <a:ext cx="8856032" cy="3888321"/>
          </a:xfrm>
          <a:prstGeom prst="irregularSeal1">
            <a:avLst/>
          </a:prstGeom>
          <a:noFill/>
          <a:ln w="57150">
            <a:solidFill>
              <a:srgbClr val="00206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FB9E8CF-E4AF-81B9-3FF5-E390B01D7505}"/>
              </a:ext>
            </a:extLst>
          </p:cNvPr>
          <p:cNvSpPr txBox="1"/>
          <p:nvPr/>
        </p:nvSpPr>
        <p:spPr>
          <a:xfrm>
            <a:off x="1501566" y="927437"/>
            <a:ext cx="5233400" cy="16119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E848315-2147-12BC-EC46-933FF87CFED4}"/>
              </a:ext>
            </a:extLst>
          </p:cNvPr>
          <p:cNvSpPr txBox="1"/>
          <p:nvPr/>
        </p:nvSpPr>
        <p:spPr>
          <a:xfrm>
            <a:off x="1562178" y="1736672"/>
            <a:ext cx="6500082" cy="143116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900" b="1" i="1" dirty="0">
                <a:solidFill>
                  <a:srgbClr val="000000"/>
                </a:solidFill>
                <a:latin typeface="Rockwell Extra Bold"/>
                <a:ea typeface="STXingkai"/>
              </a:rPr>
              <a:t>O Espetacular CSS: </a:t>
            </a:r>
            <a:endParaRPr lang="pt-BR" sz="2900" dirty="0">
              <a:solidFill>
                <a:srgbClr val="000000"/>
              </a:solidFill>
              <a:latin typeface="Rockwell Extra Bold"/>
              <a:ea typeface="STXingkai"/>
            </a:endParaRPr>
          </a:p>
          <a:p>
            <a:pPr algn="ctr"/>
            <a:r>
              <a:rPr lang="pt-BR" sz="2900" b="1" i="1" dirty="0">
                <a:solidFill>
                  <a:srgbClr val="000000"/>
                </a:solidFill>
                <a:latin typeface="Rockwell Extra Bold"/>
                <a:ea typeface="+mn-lt"/>
                <a:cs typeface="+mn-lt"/>
              </a:rPr>
              <a:t>Domine Seletores e Salve Seus Layouts</a:t>
            </a:r>
            <a:r>
              <a:rPr lang="pt-BR" sz="2900" b="1" i="1" dirty="0">
                <a:solidFill>
                  <a:srgbClr val="000000"/>
                </a:solidFill>
                <a:latin typeface="Rockwell Extra Bold"/>
                <a:ea typeface="STXingkai"/>
                <a:cs typeface="+mn-lt"/>
              </a:rPr>
              <a:t>!</a:t>
            </a:r>
            <a:endParaRPr lang="pt-BR" sz="2900" dirty="0">
              <a:solidFill>
                <a:srgbClr val="000000"/>
              </a:solidFill>
              <a:latin typeface="Rockwell Extra Bold"/>
              <a:ea typeface="STXingkai"/>
              <a:cs typeface="+mn-lt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1637AAE-A7BF-344C-43DA-F1F36D878AA6}"/>
              </a:ext>
            </a:extLst>
          </p:cNvPr>
          <p:cNvSpPr txBox="1"/>
          <p:nvPr/>
        </p:nvSpPr>
        <p:spPr>
          <a:xfrm>
            <a:off x="1551810" y="1688906"/>
            <a:ext cx="6500082" cy="143116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900" b="1" i="1">
                <a:solidFill>
                  <a:schemeClr val="bg1"/>
                </a:solidFill>
                <a:latin typeface="Rockwell Extra Bold"/>
                <a:ea typeface="STXingkai"/>
              </a:rPr>
              <a:t>O Espetacular CSS:</a:t>
            </a:r>
            <a:r>
              <a:rPr lang="pt-BR" sz="2900" b="1" i="1">
                <a:solidFill>
                  <a:srgbClr val="9DD7DC"/>
                </a:solidFill>
                <a:latin typeface="Rockwell Extra Bold"/>
                <a:ea typeface="STXingkai"/>
              </a:rPr>
              <a:t> </a:t>
            </a:r>
            <a:endParaRPr lang="pt-BR" sz="2900">
              <a:solidFill>
                <a:srgbClr val="000000"/>
              </a:solidFill>
              <a:latin typeface="Rockwell Extra Bold"/>
              <a:ea typeface="STXingkai"/>
            </a:endParaRPr>
          </a:p>
          <a:p>
            <a:pPr algn="ctr"/>
            <a:r>
              <a:rPr lang="pt-BR" sz="2900" b="1" i="1">
                <a:solidFill>
                  <a:srgbClr val="78AFC3"/>
                </a:solidFill>
                <a:latin typeface="Rockwell Extra Bold"/>
                <a:ea typeface="+mn-lt"/>
                <a:cs typeface="+mn-lt"/>
              </a:rPr>
              <a:t>Domine Seletores e Salve Seus Layouts</a:t>
            </a:r>
            <a:r>
              <a:rPr lang="pt-BR" sz="2900" b="1" i="1">
                <a:solidFill>
                  <a:srgbClr val="78AFC3"/>
                </a:solidFill>
                <a:latin typeface="Rockwell Extra Bold"/>
                <a:ea typeface="STXingkai"/>
                <a:cs typeface="+mn-lt"/>
              </a:rPr>
              <a:t>!</a:t>
            </a:r>
            <a:endParaRPr lang="pt-BR" sz="2900">
              <a:solidFill>
                <a:srgbClr val="78AFC3"/>
              </a:solidFill>
              <a:latin typeface="Rockwell Extra Bold"/>
              <a:ea typeface="STXingkai"/>
              <a:cs typeface="+mn-lt"/>
            </a:endParaRPr>
          </a:p>
        </p:txBody>
      </p:sp>
      <p:sp>
        <p:nvSpPr>
          <p:cNvPr id="6" name="Paralelogramo 5">
            <a:extLst>
              <a:ext uri="{FF2B5EF4-FFF2-40B4-BE49-F238E27FC236}">
                <a16:creationId xmlns:a16="http://schemas.microsoft.com/office/drawing/2014/main" id="{5FE9CC74-AF90-3495-D732-50FAF594DA24}"/>
              </a:ext>
            </a:extLst>
          </p:cNvPr>
          <p:cNvSpPr/>
          <p:nvPr/>
        </p:nvSpPr>
        <p:spPr>
          <a:xfrm>
            <a:off x="6239060" y="11108491"/>
            <a:ext cx="3106868" cy="755754"/>
          </a:xfrm>
          <a:prstGeom prst="parallelogram">
            <a:avLst/>
          </a:prstGeom>
          <a:solidFill>
            <a:schemeClr val="tx1"/>
          </a:solidFill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91171E33-27B7-3B42-177E-5FFED0135A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234044" y="11108490"/>
            <a:ext cx="2978116" cy="737361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CC2788D-327D-E1CD-C786-28399C22CF6D}"/>
              </a:ext>
            </a:extLst>
          </p:cNvPr>
          <p:cNvSpPr txBox="1"/>
          <p:nvPr/>
        </p:nvSpPr>
        <p:spPr>
          <a:xfrm>
            <a:off x="6451853" y="11107795"/>
            <a:ext cx="26880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3600" b="1" i="1" dirty="0" err="1">
                <a:latin typeface="Rockwell"/>
              </a:rPr>
              <a:t>Julia</a:t>
            </a:r>
            <a:r>
              <a:rPr lang="pt-PT" sz="3600" b="1" i="1" dirty="0">
                <a:latin typeface="Rockwell"/>
              </a:rPr>
              <a:t> Vieira</a:t>
            </a:r>
          </a:p>
        </p:txBody>
      </p:sp>
      <p:sp>
        <p:nvSpPr>
          <p:cNvPr id="11" name="Marcador de Posição do Número do Diapositivo 10">
            <a:extLst>
              <a:ext uri="{FF2B5EF4-FFF2-40B4-BE49-F238E27FC236}">
                <a16:creationId xmlns:a16="http://schemas.microsoft.com/office/drawing/2014/main" id="{9F7B6C66-6A62-D72B-8767-54AD5F1A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1</a:t>
            </a:fld>
            <a:endParaRPr lang="pt-PT"/>
          </a:p>
        </p:txBody>
      </p:sp>
      <p:sp>
        <p:nvSpPr>
          <p:cNvPr id="10" name="Marcador de Posição do Rodapé 9">
            <a:extLst>
              <a:ext uri="{FF2B5EF4-FFF2-40B4-BE49-F238E27FC236}">
                <a16:creationId xmlns:a16="http://schemas.microsoft.com/office/drawing/2014/main" id="{B2FD27B9-CC64-38E0-04D6-A12A3E09D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ulo_Componente">
            <a:extLst>
              <a:ext uri="{FF2B5EF4-FFF2-40B4-BE49-F238E27FC236}">
                <a16:creationId xmlns:a16="http://schemas.microsoft.com/office/drawing/2014/main" id="{8CC752E3-35B4-FBF4-72C3-18FD976270E8}"/>
              </a:ext>
            </a:extLst>
          </p:cNvPr>
          <p:cNvSpPr txBox="1"/>
          <p:nvPr/>
        </p:nvSpPr>
        <p:spPr>
          <a:xfrm>
            <a:off x="1440297" y="658111"/>
            <a:ext cx="6727371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4000" b="1">
                <a:latin typeface="Lucida Sans Unicode"/>
                <a:ea typeface="+mn-lt"/>
                <a:cs typeface="Lucida Sans Unicode"/>
              </a:rPr>
              <a:t>Desvendando o Poder dos Seletores CSS</a:t>
            </a:r>
            <a:endParaRPr lang="pt-PT"/>
          </a:p>
          <a:p>
            <a:endParaRPr lang="pt-PT" sz="3200"/>
          </a:p>
        </p:txBody>
      </p:sp>
      <p:sp>
        <p:nvSpPr>
          <p:cNvPr id="7" name="texto_componente">
            <a:extLst>
              <a:ext uri="{FF2B5EF4-FFF2-40B4-BE49-F238E27FC236}">
                <a16:creationId xmlns:a16="http://schemas.microsoft.com/office/drawing/2014/main" id="{39FD561D-0C33-830A-A016-BE339015A996}"/>
              </a:ext>
            </a:extLst>
          </p:cNvPr>
          <p:cNvSpPr txBox="1"/>
          <p:nvPr/>
        </p:nvSpPr>
        <p:spPr>
          <a:xfrm>
            <a:off x="1131849" y="4102880"/>
            <a:ext cx="7546986" cy="74789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 dirty="0">
                <a:latin typeface="Calibri"/>
                <a:ea typeface="Calibri"/>
                <a:cs typeface="Calibri"/>
              </a:rPr>
              <a:t>Se você já começou a aprender CSS, deve ter percebido que tudo gira em torno de selecionar elementos para aplicar estilos.</a:t>
            </a:r>
            <a:br>
              <a:rPr lang="pt-PT" sz="2400" dirty="0">
                <a:latin typeface="Calibri"/>
                <a:ea typeface="Calibri"/>
                <a:cs typeface="Calibri"/>
              </a:rPr>
            </a:br>
            <a:r>
              <a:rPr lang="pt-PT" sz="2400" dirty="0">
                <a:latin typeface="Calibri"/>
                <a:ea typeface="Calibri"/>
                <a:cs typeface="Calibri"/>
              </a:rPr>
              <a:t>É como se o CSS fosse um artista e os seletores, o pincel que escolhe o que será pintado.</a:t>
            </a:r>
            <a:endParaRPr lang="pt-PT" dirty="0"/>
          </a:p>
          <a:p>
            <a:r>
              <a:rPr lang="pt-PT" sz="2400" dirty="0">
                <a:latin typeface="Calibri"/>
                <a:ea typeface="Calibri"/>
                <a:cs typeface="Calibri"/>
              </a:rPr>
              <a:t>Os seletores são o coração do CSS — eles dizem “quem” receberá as regras de estilo que você escreve.</a:t>
            </a:r>
            <a:br>
              <a:rPr lang="pt-PT" sz="2400" dirty="0">
                <a:latin typeface="Calibri"/>
                <a:ea typeface="Calibri"/>
                <a:cs typeface="Calibri"/>
              </a:rPr>
            </a:br>
            <a:r>
              <a:rPr lang="pt-PT" sz="2400" dirty="0">
                <a:latin typeface="Calibri"/>
                <a:ea typeface="Calibri"/>
                <a:cs typeface="Calibri"/>
              </a:rPr>
              <a:t> Saber usá-los com precisão é o que separa um iniciante de um desenvolvedor que realmente domina o layout e a aparência de uma página.</a:t>
            </a:r>
            <a:endParaRPr lang="pt-PT" dirty="0"/>
          </a:p>
          <a:p>
            <a:r>
              <a:rPr lang="pt-PT" sz="2400" dirty="0">
                <a:latin typeface="Calibri"/>
                <a:ea typeface="Calibri"/>
                <a:cs typeface="Calibri"/>
              </a:rPr>
              <a:t>Neste </a:t>
            </a:r>
            <a:r>
              <a:rPr lang="pt-PT" sz="2400" dirty="0" err="1">
                <a:latin typeface="Calibri"/>
                <a:ea typeface="Calibri"/>
                <a:cs typeface="Calibri"/>
              </a:rPr>
              <a:t>ebook</a:t>
            </a:r>
            <a:r>
              <a:rPr lang="pt-PT" sz="2400" dirty="0">
                <a:latin typeface="Calibri"/>
                <a:ea typeface="Calibri"/>
                <a:cs typeface="Calibri"/>
              </a:rPr>
              <a:t>, você vai descobrir os principais seletores CSS, entender como e quando usá-los e ver exemplos práticos aplicados a situações reais de um site.</a:t>
            </a:r>
            <a:endParaRPr lang="pt-PT" dirty="0"/>
          </a:p>
          <a:p>
            <a:r>
              <a:rPr lang="pt-PT" sz="2400" dirty="0">
                <a:latin typeface="Calibri"/>
                <a:ea typeface="Calibri"/>
                <a:cs typeface="Calibri"/>
              </a:rPr>
              <a:t>A ideia aqui é simples: nada de teoria cansativa.</a:t>
            </a:r>
            <a:br>
              <a:rPr lang="pt-PT" sz="2400" dirty="0">
                <a:latin typeface="Calibri"/>
                <a:ea typeface="Calibri"/>
                <a:cs typeface="Calibri"/>
              </a:rPr>
            </a:br>
            <a:r>
              <a:rPr lang="pt-PT" sz="2400" dirty="0">
                <a:latin typeface="Calibri"/>
                <a:ea typeface="Calibri"/>
                <a:cs typeface="Calibri"/>
              </a:rPr>
              <a:t>Você vai aprender de forma direta, clara e visual, para poder aplicar tudo no seu código imediatamente.</a:t>
            </a:r>
            <a:endParaRPr lang="pt-PT" dirty="0"/>
          </a:p>
          <a:p>
            <a:r>
              <a:rPr lang="pt-PT" sz="2400" dirty="0">
                <a:latin typeface="Calibri"/>
                <a:ea typeface="Calibri"/>
                <a:cs typeface="Calibri"/>
              </a:rPr>
              <a:t>Prepare seu editor de código — e vamos começar a dar vida e estilo às suas páginas com CSS!</a:t>
            </a:r>
            <a:endParaRPr lang="pt-PT" dirty="0"/>
          </a:p>
          <a:p>
            <a:endParaRPr lang="pt-PT" sz="2400">
              <a:latin typeface="Calibri"/>
              <a:ea typeface="Calibri"/>
              <a:cs typeface="Calibri"/>
            </a:endParaRPr>
          </a:p>
          <a:p>
            <a:endParaRPr lang="pt-PT" sz="2400"/>
          </a:p>
        </p:txBody>
      </p:sp>
      <p:sp>
        <p:nvSpPr>
          <p:cNvPr id="9" name="subtitulo_componente">
            <a:extLst>
              <a:ext uri="{FF2B5EF4-FFF2-40B4-BE49-F238E27FC236}">
                <a16:creationId xmlns:a16="http://schemas.microsoft.com/office/drawing/2014/main" id="{F8CCCE75-41CF-B597-A368-04074E0BAA9D}"/>
              </a:ext>
            </a:extLst>
          </p:cNvPr>
          <p:cNvSpPr txBox="1"/>
          <p:nvPr/>
        </p:nvSpPr>
        <p:spPr>
          <a:xfrm>
            <a:off x="1131849" y="2481710"/>
            <a:ext cx="844466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3200">
                <a:latin typeface="Calibri Light"/>
                <a:ea typeface="Calibri Light"/>
                <a:cs typeface="Calibri Light"/>
              </a:rPr>
              <a:t>Como o CSS escolhe o que estilizar</a:t>
            </a:r>
            <a:endParaRPr lang="pt-PT"/>
          </a:p>
          <a:p>
            <a:endParaRPr lang="pt-PT" sz="3200"/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76B2FD59-75CE-67C4-D58D-5F5AEDCFE1A1}"/>
              </a:ext>
            </a:extLst>
          </p:cNvPr>
          <p:cNvSpPr/>
          <p:nvPr/>
        </p:nvSpPr>
        <p:spPr>
          <a:xfrm rot="10800000" flipH="1">
            <a:off x="868643" y="-9328"/>
            <a:ext cx="195016" cy="135747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A3DD938D-DB29-C324-857D-F40E56DC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2</a:t>
            </a:fld>
            <a:endParaRPr lang="pt-PT"/>
          </a:p>
        </p:txBody>
      </p:sp>
      <p:sp>
        <p:nvSpPr>
          <p:cNvPr id="2" name="Marcador de Posição do Rodapé 1">
            <a:extLst>
              <a:ext uri="{FF2B5EF4-FFF2-40B4-BE49-F238E27FC236}">
                <a16:creationId xmlns:a16="http://schemas.microsoft.com/office/drawing/2014/main" id="{24453D86-86B6-0FAE-592A-42DF6732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</p:spTree>
    <p:extLst>
      <p:ext uri="{BB962C8B-B14F-4D97-AF65-F5344CB8AC3E}">
        <p14:creationId xmlns:p14="http://schemas.microsoft.com/office/powerpoint/2010/main" val="1153189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4421FC9-2556-1732-FD95-8093612A4104}"/>
              </a:ext>
            </a:extLst>
          </p:cNvPr>
          <p:cNvSpPr/>
          <p:nvPr/>
        </p:nvSpPr>
        <p:spPr>
          <a:xfrm>
            <a:off x="0" y="0"/>
            <a:ext cx="9625098" cy="12853392"/>
          </a:xfrm>
          <a:prstGeom prst="rect">
            <a:avLst/>
          </a:prstGeom>
          <a:solidFill>
            <a:srgbClr val="03212E"/>
          </a:solidFill>
          <a:ln>
            <a:solidFill>
              <a:srgbClr val="1D2E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846620C-723F-A0B3-3372-9148EAE4BD75}"/>
              </a:ext>
            </a:extLst>
          </p:cNvPr>
          <p:cNvSpPr txBox="1"/>
          <p:nvPr/>
        </p:nvSpPr>
        <p:spPr>
          <a:xfrm>
            <a:off x="265158" y="3060556"/>
            <a:ext cx="9085454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6000" dirty="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Seletor de Elemento: </a:t>
            </a:r>
          </a:p>
          <a:p>
            <a:pPr algn="ctr"/>
            <a:r>
              <a:rPr lang="pt-PT" sz="6000" dirty="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 </a:t>
            </a:r>
          </a:p>
          <a:p>
            <a:pPr algn="ctr"/>
            <a:r>
              <a:rPr lang="pt-PT" sz="6000" dirty="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Onde Tudo Começa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6" name="Paralelogramo 5">
            <a:extLst>
              <a:ext uri="{FF2B5EF4-FFF2-40B4-BE49-F238E27FC236}">
                <a16:creationId xmlns:a16="http://schemas.microsoft.com/office/drawing/2014/main" id="{0B097E96-6C2A-49A7-F108-1E7843B0C20B}"/>
              </a:ext>
            </a:extLst>
          </p:cNvPr>
          <p:cNvSpPr/>
          <p:nvPr/>
        </p:nvSpPr>
        <p:spPr>
          <a:xfrm>
            <a:off x="1334282" y="7585032"/>
            <a:ext cx="6934853" cy="179349"/>
          </a:xfrm>
          <a:prstGeom prst="parallelogram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C1F4AB6-4A34-2717-7A0C-988E754071A1}"/>
              </a:ext>
            </a:extLst>
          </p:cNvPr>
          <p:cNvSpPr txBox="1"/>
          <p:nvPr/>
        </p:nvSpPr>
        <p:spPr>
          <a:xfrm>
            <a:off x="6139064" y="-3240"/>
            <a:ext cx="526058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9600" b="1" u="sng">
                <a:solidFill>
                  <a:schemeClr val="bg1"/>
                </a:solidFill>
                <a:latin typeface="Aptos"/>
                <a:ea typeface="HGGothicE"/>
              </a:rPr>
              <a:t>01</a:t>
            </a:r>
            <a:endParaRPr lang="pt-PT" sz="8000" b="1" u="sng">
              <a:solidFill>
                <a:schemeClr val="bg1"/>
              </a:solidFill>
              <a:latin typeface="Apto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B0FEAAE-A379-9C40-C26F-0C0691E672B3}"/>
              </a:ext>
            </a:extLst>
          </p:cNvPr>
          <p:cNvSpPr txBox="1"/>
          <p:nvPr/>
        </p:nvSpPr>
        <p:spPr>
          <a:xfrm>
            <a:off x="1938896" y="7980039"/>
            <a:ext cx="570942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>
                <a:solidFill>
                  <a:schemeClr val="bg1"/>
                </a:solidFill>
                <a:latin typeface="Calibri Light"/>
                <a:ea typeface="+mn-lt"/>
                <a:cs typeface="+mn-lt"/>
              </a:rPr>
              <a:t>O seletor de elemento é o mais simples e direto: ele estiliza todas as </a:t>
            </a:r>
            <a:r>
              <a:rPr lang="pt-PT" sz="2400" b="1" err="1">
                <a:solidFill>
                  <a:schemeClr val="bg1"/>
                </a:solidFill>
                <a:latin typeface="Calibri Light"/>
                <a:ea typeface="+mn-lt"/>
                <a:cs typeface="+mn-lt"/>
              </a:rPr>
              <a:t>tags</a:t>
            </a:r>
            <a:r>
              <a:rPr lang="pt-PT" sz="2400" b="1">
                <a:solidFill>
                  <a:schemeClr val="bg1"/>
                </a:solidFill>
                <a:latin typeface="Calibri Light"/>
                <a:ea typeface="+mn-lt"/>
                <a:cs typeface="+mn-lt"/>
              </a:rPr>
              <a:t> de um mesmo tipo em uma página.</a:t>
            </a:r>
            <a:endParaRPr lang="pt-PT" sz="2400" b="1">
              <a:solidFill>
                <a:schemeClr val="bg1"/>
              </a:solidFill>
              <a:latin typeface="Calibri Light"/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04732B7F-CA8B-86EC-B854-C8AEF4C7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3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DA69BBA8-EE65-1766-6E9E-86EB527C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</p:spTree>
    <p:extLst>
      <p:ext uri="{BB962C8B-B14F-4D97-AF65-F5344CB8AC3E}">
        <p14:creationId xmlns:p14="http://schemas.microsoft.com/office/powerpoint/2010/main" val="1624977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58D4E-93DD-B4D5-93F9-3ED823FD8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ulo_Componente">
            <a:extLst>
              <a:ext uri="{FF2B5EF4-FFF2-40B4-BE49-F238E27FC236}">
                <a16:creationId xmlns:a16="http://schemas.microsoft.com/office/drawing/2014/main" id="{887BDDE1-2434-1DE6-A84D-B8E65FBDE89D}"/>
              </a:ext>
            </a:extLst>
          </p:cNvPr>
          <p:cNvSpPr txBox="1"/>
          <p:nvPr/>
        </p:nvSpPr>
        <p:spPr>
          <a:xfrm>
            <a:off x="2214911" y="619082"/>
            <a:ext cx="51661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4000" b="1">
                <a:latin typeface="Lucida Sans Unicode"/>
                <a:ea typeface="+mn-lt"/>
                <a:cs typeface="Lucida Sans Unicode"/>
              </a:rPr>
              <a:t>Seletor de Elemento</a:t>
            </a:r>
            <a:endParaRPr lang="pt-PT"/>
          </a:p>
          <a:p>
            <a:endParaRPr lang="pt-PT" sz="3200"/>
          </a:p>
        </p:txBody>
      </p:sp>
      <p:sp>
        <p:nvSpPr>
          <p:cNvPr id="7" name="texto_componente">
            <a:extLst>
              <a:ext uri="{FF2B5EF4-FFF2-40B4-BE49-F238E27FC236}">
                <a16:creationId xmlns:a16="http://schemas.microsoft.com/office/drawing/2014/main" id="{CA73A6DA-C9AA-57B3-5C6B-A4AB970CA545}"/>
              </a:ext>
            </a:extLst>
          </p:cNvPr>
          <p:cNvSpPr txBox="1"/>
          <p:nvPr/>
        </p:nvSpPr>
        <p:spPr>
          <a:xfrm>
            <a:off x="1096493" y="2300817"/>
            <a:ext cx="7410384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>
                <a:latin typeface="Calibri"/>
                <a:ea typeface="Calibri"/>
                <a:cs typeface="Calibri"/>
              </a:rPr>
              <a:t>Esse é o tipo de seletor mais básico e direto do CSS. Ele seleciona todas as </a:t>
            </a:r>
            <a:r>
              <a:rPr lang="pt-PT" sz="2400" err="1">
                <a:latin typeface="Calibri"/>
                <a:ea typeface="Calibri"/>
                <a:cs typeface="Calibri"/>
              </a:rPr>
              <a:t>tags</a:t>
            </a:r>
            <a:r>
              <a:rPr lang="pt-PT" sz="2400">
                <a:latin typeface="Calibri"/>
                <a:ea typeface="Calibri"/>
                <a:cs typeface="Calibri"/>
              </a:rPr>
              <a:t> HTML de um tipo específico e aplica o mesmo estilo para todas.</a:t>
            </a:r>
            <a:br>
              <a:rPr lang="pt-PT" sz="2400">
                <a:latin typeface="Calibri"/>
                <a:ea typeface="Calibri"/>
                <a:cs typeface="Calibri"/>
              </a:rPr>
            </a:br>
            <a:r>
              <a:rPr lang="pt-PT" sz="2400">
                <a:latin typeface="Calibri"/>
                <a:ea typeface="Calibri"/>
                <a:cs typeface="Calibri"/>
              </a:rPr>
              <a:t>É ideal quando você quer uma aparência padrão em todo o site, como definir a cor e o espaçamento dos parágrafos ou o tamanho das fontes dos títulos.</a:t>
            </a:r>
            <a:endParaRPr lang="pt-PT"/>
          </a:p>
          <a:p>
            <a:endParaRPr lang="pt-PT" sz="2400">
              <a:latin typeface="Calibri"/>
              <a:ea typeface="Calibri"/>
              <a:cs typeface="Calibri"/>
            </a:endParaRPr>
          </a:p>
          <a:p>
            <a:r>
              <a:rPr lang="pt-PT" sz="2400" b="1">
                <a:latin typeface="Calibri"/>
                <a:ea typeface="Calibri"/>
                <a:cs typeface="Calibri"/>
              </a:rPr>
              <a:t>Exemplo:</a:t>
            </a:r>
            <a:endParaRPr lang="pt-PT" b="1"/>
          </a:p>
          <a:p>
            <a:endParaRPr lang="pt-PT" sz="2400">
              <a:latin typeface="Calibri"/>
              <a:ea typeface="Calibri"/>
              <a:cs typeface="Calibri"/>
            </a:endParaRPr>
          </a:p>
          <a:p>
            <a:endParaRPr lang="pt-PT" sz="2400"/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627D3F73-6D38-EBBC-AADC-1617A2E2A083}"/>
              </a:ext>
            </a:extLst>
          </p:cNvPr>
          <p:cNvSpPr/>
          <p:nvPr/>
        </p:nvSpPr>
        <p:spPr>
          <a:xfrm rot="10800000" flipH="1">
            <a:off x="868643" y="-9328"/>
            <a:ext cx="195016" cy="135747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3DDBAEB9-B382-A2A7-0832-CA5DA89ACCAD}"/>
              </a:ext>
            </a:extLst>
          </p:cNvPr>
          <p:cNvSpPr txBox="1"/>
          <p:nvPr/>
        </p:nvSpPr>
        <p:spPr>
          <a:xfrm>
            <a:off x="824395" y="10237823"/>
            <a:ext cx="779680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 b="1" i="1" dirty="0">
                <a:latin typeface="Calibri"/>
                <a:ea typeface="Calibri"/>
                <a:cs typeface="Calibri"/>
              </a:rPr>
              <a:t>Resultado:</a:t>
            </a:r>
            <a:br>
              <a:rPr lang="pt-PT" sz="2400" dirty="0">
                <a:latin typeface="Calibri"/>
                <a:ea typeface="Calibri"/>
                <a:cs typeface="Calibri"/>
              </a:rPr>
            </a:br>
            <a:r>
              <a:rPr lang="pt-PT" sz="2400" dirty="0">
                <a:latin typeface="Calibri"/>
                <a:ea typeface="Calibri"/>
                <a:cs typeface="Calibri"/>
              </a:rPr>
              <a:t>Todos os parágrafos (&lt;p&gt;) da página ficam com texto azul (#1E90FF), tamanho de 16px e espaçamento entre linhas de 1,5, tornando a leitura mais confortável.</a:t>
            </a:r>
            <a:endParaRPr lang="pt-PT" dirty="0">
              <a:latin typeface="Aptos"/>
              <a:ea typeface="Calibri"/>
              <a:cs typeface="Calibri"/>
            </a:endParaRPr>
          </a:p>
          <a:p>
            <a:endParaRPr lang="pt-PT" sz="2400">
              <a:latin typeface="Calibri"/>
              <a:ea typeface="Calibri"/>
              <a:cs typeface="Calibri"/>
            </a:endParaRPr>
          </a:p>
          <a:p>
            <a:endParaRPr lang="pt-PT" sz="240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A2BD8D4C-F5CF-BFBC-6310-97C2654CD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4</a:t>
            </a:fld>
            <a:endParaRPr lang="pt-PT"/>
          </a:p>
        </p:txBody>
      </p:sp>
      <p:sp>
        <p:nvSpPr>
          <p:cNvPr id="2" name="Marcador de Posição do Rodapé 1">
            <a:extLst>
              <a:ext uri="{FF2B5EF4-FFF2-40B4-BE49-F238E27FC236}">
                <a16:creationId xmlns:a16="http://schemas.microsoft.com/office/drawing/2014/main" id="{EE027420-F659-6D8A-AC36-072038D0E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  <p:pic>
        <p:nvPicPr>
          <p:cNvPr id="8" name="Imagem 7" descr="Teia Homem Aranha PNG Images | Vetores E Arquivos PSD | Download Grátis Em  Pngtree">
            <a:extLst>
              <a:ext uri="{FF2B5EF4-FFF2-40B4-BE49-F238E27FC236}">
                <a16:creationId xmlns:a16="http://schemas.microsoft.com/office/drawing/2014/main" id="{09A9BA70-C5A5-2B28-EC23-3FE9CC6758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7" t="6058" r="-105" b="505"/>
          <a:stretch>
            <a:fillRect/>
          </a:stretch>
        </p:blipFill>
        <p:spPr>
          <a:xfrm rot="5400000">
            <a:off x="7731763" y="-97106"/>
            <a:ext cx="1773478" cy="1960923"/>
          </a:xfrm>
          <a:prstGeom prst="rect">
            <a:avLst/>
          </a:prstGeom>
        </p:spPr>
      </p:pic>
      <p:pic>
        <p:nvPicPr>
          <p:cNvPr id="9" name="Imagem 8" descr="Texto&#10;&#10;O conteúdo gerado por IA pode estar incorreto.">
            <a:extLst>
              <a:ext uri="{FF2B5EF4-FFF2-40B4-BE49-F238E27FC236}">
                <a16:creationId xmlns:a16="http://schemas.microsoft.com/office/drawing/2014/main" id="{D39E9863-71E1-3BBE-3B89-17CFEEDF6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39" y="5324436"/>
            <a:ext cx="8886324" cy="47182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85959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F88BC-2430-43C6-4FF1-DD94B948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DC7E596-F316-A81E-1EB7-15CD2D549F10}"/>
              </a:ext>
            </a:extLst>
          </p:cNvPr>
          <p:cNvSpPr/>
          <p:nvPr/>
        </p:nvSpPr>
        <p:spPr>
          <a:xfrm>
            <a:off x="0" y="0"/>
            <a:ext cx="9625098" cy="12853392"/>
          </a:xfrm>
          <a:prstGeom prst="rect">
            <a:avLst/>
          </a:prstGeom>
          <a:solidFill>
            <a:srgbClr val="03212E"/>
          </a:solidFill>
          <a:ln>
            <a:solidFill>
              <a:srgbClr val="1D2E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D0F2D46-2E31-12B3-1DB8-1E83C89AA80E}"/>
              </a:ext>
            </a:extLst>
          </p:cNvPr>
          <p:cNvSpPr txBox="1"/>
          <p:nvPr/>
        </p:nvSpPr>
        <p:spPr>
          <a:xfrm>
            <a:off x="265158" y="3060556"/>
            <a:ext cx="9085454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6000" dirty="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Seletor de Classe: </a:t>
            </a:r>
            <a:endParaRPr lang="pt-PT" dirty="0">
              <a:solidFill>
                <a:schemeClr val="bg1"/>
              </a:solidFill>
              <a:latin typeface="Aptos" panose="020B0004020202020204"/>
              <a:ea typeface="+mn-lt"/>
              <a:cs typeface="+mn-lt"/>
            </a:endParaRPr>
          </a:p>
          <a:p>
            <a:pPr algn="ctr"/>
            <a:endParaRPr lang="pt-PT" sz="6000" dirty="0">
              <a:solidFill>
                <a:schemeClr val="bg1"/>
              </a:solidFill>
              <a:latin typeface="Rockwell Extra Bold"/>
              <a:ea typeface="+mn-lt"/>
              <a:cs typeface="+mn-lt"/>
            </a:endParaRPr>
          </a:p>
          <a:p>
            <a:pPr algn="ctr"/>
            <a:r>
              <a:rPr lang="pt-PT" sz="6000" dirty="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Reutilizando estilos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6" name="Paralelogramo 5">
            <a:extLst>
              <a:ext uri="{FF2B5EF4-FFF2-40B4-BE49-F238E27FC236}">
                <a16:creationId xmlns:a16="http://schemas.microsoft.com/office/drawing/2014/main" id="{57BAA752-2D4F-677D-1245-298D2155E211}"/>
              </a:ext>
            </a:extLst>
          </p:cNvPr>
          <p:cNvSpPr/>
          <p:nvPr/>
        </p:nvSpPr>
        <p:spPr>
          <a:xfrm>
            <a:off x="1334282" y="7585032"/>
            <a:ext cx="6934853" cy="179349"/>
          </a:xfrm>
          <a:prstGeom prst="parallelogram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5AAF07B-FE63-6304-70A9-E3C406EE54BF}"/>
              </a:ext>
            </a:extLst>
          </p:cNvPr>
          <p:cNvSpPr txBox="1"/>
          <p:nvPr/>
        </p:nvSpPr>
        <p:spPr>
          <a:xfrm>
            <a:off x="6139064" y="-3240"/>
            <a:ext cx="526058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9600" b="1" u="sng">
                <a:solidFill>
                  <a:schemeClr val="bg1"/>
                </a:solidFill>
                <a:latin typeface="Aptos"/>
                <a:ea typeface="HGGothicE"/>
              </a:rPr>
              <a:t>02</a:t>
            </a:r>
            <a:endParaRPr lang="pt-PT" sz="8000" b="1" u="sng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180E303-8418-B073-F244-E228254FF314}"/>
              </a:ext>
            </a:extLst>
          </p:cNvPr>
          <p:cNvSpPr txBox="1"/>
          <p:nvPr/>
        </p:nvSpPr>
        <p:spPr>
          <a:xfrm>
            <a:off x="1626662" y="7999554"/>
            <a:ext cx="63534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As classes são perfeitas quando você quer aplicar um estilo específico a vários elementos, sem alterar todos os do mesmo tipo.</a:t>
            </a:r>
            <a:endParaRPr lang="pt-PT"/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7F38FD96-E5C4-76FD-C0C7-E9C1EBB64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5</a:t>
            </a:fld>
            <a:endParaRPr lang="pt-PT"/>
          </a:p>
        </p:txBody>
      </p:sp>
      <p:sp>
        <p:nvSpPr>
          <p:cNvPr id="2" name="Marcador de Posição do Rodapé 1">
            <a:extLst>
              <a:ext uri="{FF2B5EF4-FFF2-40B4-BE49-F238E27FC236}">
                <a16:creationId xmlns:a16="http://schemas.microsoft.com/office/drawing/2014/main" id="{94F54E11-8C00-4F6A-4A44-A9553A9CD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</p:spTree>
    <p:extLst>
      <p:ext uri="{BB962C8B-B14F-4D97-AF65-F5344CB8AC3E}">
        <p14:creationId xmlns:p14="http://schemas.microsoft.com/office/powerpoint/2010/main" val="1322062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106AD-A678-9B2F-034E-29CC1A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ulo_Componente">
            <a:extLst>
              <a:ext uri="{FF2B5EF4-FFF2-40B4-BE49-F238E27FC236}">
                <a16:creationId xmlns:a16="http://schemas.microsoft.com/office/drawing/2014/main" id="{23D11C32-3CC0-D2AC-6A55-635440E9E323}"/>
              </a:ext>
            </a:extLst>
          </p:cNvPr>
          <p:cNvSpPr txBox="1"/>
          <p:nvPr/>
        </p:nvSpPr>
        <p:spPr>
          <a:xfrm>
            <a:off x="2595446" y="619082"/>
            <a:ext cx="440512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4000" b="1">
                <a:latin typeface="Lucida Sans Unicode"/>
                <a:ea typeface="+mn-lt"/>
                <a:cs typeface="Lucida Sans Unicode"/>
              </a:rPr>
              <a:t>Seletor de Classe</a:t>
            </a:r>
            <a:endParaRPr lang="pt-PT" b="1"/>
          </a:p>
          <a:p>
            <a:endParaRPr lang="pt-PT" sz="3200"/>
          </a:p>
        </p:txBody>
      </p:sp>
      <p:sp>
        <p:nvSpPr>
          <p:cNvPr id="7" name="texto_componente">
            <a:extLst>
              <a:ext uri="{FF2B5EF4-FFF2-40B4-BE49-F238E27FC236}">
                <a16:creationId xmlns:a16="http://schemas.microsoft.com/office/drawing/2014/main" id="{BB79B6E4-5721-4A7E-72B8-6B1C1B2DE01B}"/>
              </a:ext>
            </a:extLst>
          </p:cNvPr>
          <p:cNvSpPr txBox="1"/>
          <p:nvPr/>
        </p:nvSpPr>
        <p:spPr>
          <a:xfrm>
            <a:off x="1096493" y="1912105"/>
            <a:ext cx="7410384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>
                <a:latin typeface="Calibri"/>
                <a:ea typeface="Calibri"/>
                <a:cs typeface="Calibri"/>
              </a:rPr>
              <a:t>O seletor de classe é o mais usado no dia a dia do CSS.</a:t>
            </a:r>
            <a:br>
              <a:rPr lang="pt-PT" sz="2400">
                <a:latin typeface="Calibri"/>
                <a:ea typeface="Calibri"/>
                <a:cs typeface="Calibri"/>
              </a:rPr>
            </a:br>
            <a:r>
              <a:rPr lang="pt-PT" sz="2400">
                <a:latin typeface="Calibri"/>
                <a:ea typeface="Calibri"/>
                <a:cs typeface="Calibri"/>
              </a:rPr>
              <a:t>Ele permite aplicar o mesmo estilo a vários elementos diferentes, usando o ponto (.) antes do nome da classe.</a:t>
            </a:r>
            <a:endParaRPr lang="pt-PT">
              <a:latin typeface="Aptos" panose="020B0004020202020204"/>
              <a:ea typeface="Calibri"/>
              <a:cs typeface="Calibri"/>
            </a:endParaRPr>
          </a:p>
          <a:p>
            <a:br>
              <a:rPr lang="pt-PT" sz="2400">
                <a:latin typeface="Calibri"/>
                <a:ea typeface="Calibri"/>
                <a:cs typeface="Calibri"/>
              </a:rPr>
            </a:br>
            <a:endParaRPr lang="pt-PT"/>
          </a:p>
          <a:p>
            <a:r>
              <a:rPr lang="pt-PT" sz="2400" b="1">
                <a:latin typeface="Calibri"/>
                <a:ea typeface="Calibri"/>
                <a:cs typeface="Calibri"/>
              </a:rPr>
              <a:t>Exemplo:</a:t>
            </a:r>
            <a:endParaRPr lang="pt-PT" b="1"/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1EA1289B-7A9F-644B-C227-E7DB717513B8}"/>
              </a:ext>
            </a:extLst>
          </p:cNvPr>
          <p:cNvSpPr/>
          <p:nvPr/>
        </p:nvSpPr>
        <p:spPr>
          <a:xfrm rot="10800000" flipH="1">
            <a:off x="868643" y="-9328"/>
            <a:ext cx="195016" cy="135747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C031ED14-5D02-4C99-B828-4AAACC1ACD31}"/>
              </a:ext>
            </a:extLst>
          </p:cNvPr>
          <p:cNvSpPr txBox="1"/>
          <p:nvPr/>
        </p:nvSpPr>
        <p:spPr>
          <a:xfrm>
            <a:off x="965973" y="9775557"/>
            <a:ext cx="791341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 b="1" i="1" dirty="0">
                <a:latin typeface="Calibri"/>
                <a:ea typeface="Calibri"/>
                <a:cs typeface="Calibri"/>
              </a:rPr>
              <a:t>Resultado:</a:t>
            </a:r>
            <a:br>
              <a:rPr lang="pt-PT" sz="2400" dirty="0">
                <a:latin typeface="Calibri"/>
                <a:ea typeface="Calibri"/>
                <a:cs typeface="Calibri"/>
              </a:rPr>
            </a:br>
            <a:r>
              <a:rPr lang="pt-PT" sz="2400" dirty="0">
                <a:latin typeface="Calibri"/>
                <a:ea typeface="Calibri"/>
                <a:cs typeface="Calibri"/>
              </a:rPr>
              <a:t>Todos os elementos com a classe </a:t>
            </a:r>
            <a:r>
              <a:rPr lang="pt-PT" sz="2400" dirty="0" err="1">
                <a:latin typeface="Calibri"/>
                <a:ea typeface="Calibri"/>
                <a:cs typeface="Calibri"/>
              </a:rPr>
              <a:t>card</a:t>
            </a:r>
            <a:r>
              <a:rPr lang="pt-PT" sz="2400" dirty="0">
                <a:latin typeface="Calibri"/>
                <a:ea typeface="Calibri"/>
                <a:cs typeface="Calibri"/>
              </a:rPr>
              <a:t> ganham fundo azul claro (#F0F8FF), borda azul escura (#4682B4), espaçamento interno de 15px e cantos arredondados, dando um visual de “caixa” elegante.</a:t>
            </a:r>
            <a:endParaRPr lang="pt-BR" dirty="0"/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77256402-1C56-FA7E-7F75-2FC7586EC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6</a:t>
            </a:fld>
            <a:endParaRPr lang="pt-PT"/>
          </a:p>
        </p:txBody>
      </p:sp>
      <p:sp>
        <p:nvSpPr>
          <p:cNvPr id="9" name="Marcador de Posição do Rodapé 8">
            <a:extLst>
              <a:ext uri="{FF2B5EF4-FFF2-40B4-BE49-F238E27FC236}">
                <a16:creationId xmlns:a16="http://schemas.microsoft.com/office/drawing/2014/main" id="{7992CC85-4E1E-0FB1-E949-294735EF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  <p:pic>
        <p:nvPicPr>
          <p:cNvPr id="12" name="Imagem 11" descr="Teia de aranha preta de halloween sobre fundo branco. Ilustração vetorial,  clip-art. Feliz Dia das Bruxas | Vetor Premium">
            <a:extLst>
              <a:ext uri="{FF2B5EF4-FFF2-40B4-BE49-F238E27FC236}">
                <a16:creationId xmlns:a16="http://schemas.microsoft.com/office/drawing/2014/main" id="{D7708295-65CF-B4F6-B556-705CDE85C7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9777" t="71058" r="24210" b="-42101"/>
          <a:stretch>
            <a:fillRect/>
          </a:stretch>
        </p:blipFill>
        <p:spPr>
          <a:xfrm>
            <a:off x="6863576" y="1243361"/>
            <a:ext cx="2347285" cy="1948857"/>
          </a:xfrm>
          <a:prstGeom prst="rect">
            <a:avLst/>
          </a:prstGeom>
        </p:spPr>
      </p:pic>
      <p:pic>
        <p:nvPicPr>
          <p:cNvPr id="14" name="Imagem 13" descr="Teia Homem Aranha PNG Images | Vetores E Arquivos PSD | Download Grátis Em  Pngtree">
            <a:extLst>
              <a:ext uri="{FF2B5EF4-FFF2-40B4-BE49-F238E27FC236}">
                <a16:creationId xmlns:a16="http://schemas.microsoft.com/office/drawing/2014/main" id="{6CF9A1D3-2A9B-838F-2805-75AFF48399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17" t="6058" r="-105" b="505"/>
          <a:stretch>
            <a:fillRect/>
          </a:stretch>
        </p:blipFill>
        <p:spPr>
          <a:xfrm rot="5400000">
            <a:off x="7731763" y="-106660"/>
            <a:ext cx="1773478" cy="196092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211B5967-D8FD-B8E4-2031-F3A49ED9F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54" y="4482650"/>
            <a:ext cx="8834496" cy="50801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90295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5F0EE-02D5-8022-61A0-7DF1A51EC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51B1827-DAAC-DE78-7E5B-BA864076CC40}"/>
              </a:ext>
            </a:extLst>
          </p:cNvPr>
          <p:cNvSpPr/>
          <p:nvPr/>
        </p:nvSpPr>
        <p:spPr>
          <a:xfrm>
            <a:off x="0" y="0"/>
            <a:ext cx="9625098" cy="12853392"/>
          </a:xfrm>
          <a:prstGeom prst="rect">
            <a:avLst/>
          </a:prstGeom>
          <a:solidFill>
            <a:srgbClr val="03212E"/>
          </a:solidFill>
          <a:ln>
            <a:solidFill>
              <a:srgbClr val="1D2E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6048BC7-0A35-CDBB-8EB8-ABE7C3247B2A}"/>
              </a:ext>
            </a:extLst>
          </p:cNvPr>
          <p:cNvSpPr txBox="1"/>
          <p:nvPr/>
        </p:nvSpPr>
        <p:spPr>
          <a:xfrm>
            <a:off x="265158" y="3821627"/>
            <a:ext cx="908545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6000" dirty="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Seletor de ID: </a:t>
            </a:r>
            <a:endParaRPr lang="pt-PT" dirty="0">
              <a:solidFill>
                <a:schemeClr val="bg1"/>
              </a:solidFill>
              <a:latin typeface="Aptos" panose="020B0004020202020204"/>
              <a:ea typeface="+mn-lt"/>
              <a:cs typeface="+mn-lt"/>
            </a:endParaRPr>
          </a:p>
          <a:p>
            <a:pPr algn="ctr"/>
            <a:endParaRPr lang="pt-PT" sz="6000" dirty="0">
              <a:solidFill>
                <a:schemeClr val="bg1"/>
              </a:solidFill>
              <a:latin typeface="Rockwell Extra Bold"/>
              <a:ea typeface="+mn-lt"/>
              <a:cs typeface="+mn-lt"/>
            </a:endParaRPr>
          </a:p>
          <a:p>
            <a:pPr algn="ctr"/>
            <a:r>
              <a:rPr lang="pt-PT" sz="6000" dirty="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 Estilos exclusivos</a:t>
            </a:r>
            <a:endParaRPr lang="pt-PT" dirty="0">
              <a:solidFill>
                <a:schemeClr val="bg1"/>
              </a:solidFill>
              <a:latin typeface="Aptos"/>
              <a:ea typeface="+mn-lt"/>
              <a:cs typeface="+mn-lt"/>
            </a:endParaRPr>
          </a:p>
        </p:txBody>
      </p:sp>
      <p:sp>
        <p:nvSpPr>
          <p:cNvPr id="6" name="Paralelogramo 5">
            <a:extLst>
              <a:ext uri="{FF2B5EF4-FFF2-40B4-BE49-F238E27FC236}">
                <a16:creationId xmlns:a16="http://schemas.microsoft.com/office/drawing/2014/main" id="{ABFAC149-EEBE-B1C2-E1B2-11CD4B8E2E24}"/>
              </a:ext>
            </a:extLst>
          </p:cNvPr>
          <p:cNvSpPr/>
          <p:nvPr/>
        </p:nvSpPr>
        <p:spPr>
          <a:xfrm>
            <a:off x="1334282" y="7585032"/>
            <a:ext cx="6934853" cy="179349"/>
          </a:xfrm>
          <a:prstGeom prst="parallelogram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69B4ECB-F3FB-7E75-1611-B28B9256B984}"/>
              </a:ext>
            </a:extLst>
          </p:cNvPr>
          <p:cNvSpPr txBox="1"/>
          <p:nvPr/>
        </p:nvSpPr>
        <p:spPr>
          <a:xfrm>
            <a:off x="6139064" y="-3240"/>
            <a:ext cx="526058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9600" b="1" u="sng">
                <a:solidFill>
                  <a:schemeClr val="bg1"/>
                </a:solidFill>
                <a:latin typeface="Aptos"/>
                <a:ea typeface="HGGothicE"/>
              </a:rPr>
              <a:t>03</a:t>
            </a:r>
            <a:endParaRPr lang="pt-PT" sz="8000" b="1" u="sng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C0B53C-5435-17B9-9D80-722ECFB2485D}"/>
              </a:ext>
            </a:extLst>
          </p:cNvPr>
          <p:cNvSpPr txBox="1"/>
          <p:nvPr/>
        </p:nvSpPr>
        <p:spPr>
          <a:xfrm>
            <a:off x="1626662" y="7999554"/>
            <a:ext cx="635340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O seletor de ID serve para identificar um elemento único dentro da página.</a:t>
            </a:r>
            <a:endParaRPr lang="pt-PT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1286794C-F624-F288-ECF9-23906954E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7</a:t>
            </a:fld>
            <a:endParaRPr lang="pt-PT"/>
          </a:p>
        </p:txBody>
      </p:sp>
      <p:sp>
        <p:nvSpPr>
          <p:cNvPr id="2" name="Marcador de Posição do Rodapé 1">
            <a:extLst>
              <a:ext uri="{FF2B5EF4-FFF2-40B4-BE49-F238E27FC236}">
                <a16:creationId xmlns:a16="http://schemas.microsoft.com/office/drawing/2014/main" id="{3131A0B7-8EA5-1555-AD87-6FCC2753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</p:spTree>
    <p:extLst>
      <p:ext uri="{BB962C8B-B14F-4D97-AF65-F5344CB8AC3E}">
        <p14:creationId xmlns:p14="http://schemas.microsoft.com/office/powerpoint/2010/main" val="1066842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15E08-BBD5-8073-DB5A-981055044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ulo_Componente">
            <a:extLst>
              <a:ext uri="{FF2B5EF4-FFF2-40B4-BE49-F238E27FC236}">
                <a16:creationId xmlns:a16="http://schemas.microsoft.com/office/drawing/2014/main" id="{4627535D-0403-2F9B-963F-A8795B838796}"/>
              </a:ext>
            </a:extLst>
          </p:cNvPr>
          <p:cNvSpPr txBox="1"/>
          <p:nvPr/>
        </p:nvSpPr>
        <p:spPr>
          <a:xfrm>
            <a:off x="3112584" y="619082"/>
            <a:ext cx="337085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4000" b="1">
                <a:latin typeface="Lucida Sans Unicode"/>
                <a:ea typeface="+mn-lt"/>
                <a:cs typeface="Lucida Sans Unicode"/>
              </a:rPr>
              <a:t>Seletor de ID</a:t>
            </a:r>
            <a:endParaRPr lang="pt-PT" b="1"/>
          </a:p>
          <a:p>
            <a:endParaRPr lang="pt-PT" sz="3200"/>
          </a:p>
        </p:txBody>
      </p:sp>
      <p:sp>
        <p:nvSpPr>
          <p:cNvPr id="7" name="texto_componente">
            <a:extLst>
              <a:ext uri="{FF2B5EF4-FFF2-40B4-BE49-F238E27FC236}">
                <a16:creationId xmlns:a16="http://schemas.microsoft.com/office/drawing/2014/main" id="{DB0E26E3-65D9-B2D3-8C43-DFA9D1621D79}"/>
              </a:ext>
            </a:extLst>
          </p:cNvPr>
          <p:cNvSpPr txBox="1"/>
          <p:nvPr/>
        </p:nvSpPr>
        <p:spPr>
          <a:xfrm>
            <a:off x="863266" y="2248989"/>
            <a:ext cx="7883396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>
                <a:latin typeface="Calibri"/>
                <a:ea typeface="Calibri"/>
                <a:cs typeface="Calibri"/>
              </a:rPr>
              <a:t>O seletor de ID é usado quando você precisa estilizar um único elemento específico da página.</a:t>
            </a:r>
            <a:br>
              <a:rPr lang="pt-PT" sz="2400">
                <a:latin typeface="Calibri"/>
                <a:ea typeface="Calibri"/>
                <a:cs typeface="Calibri"/>
              </a:rPr>
            </a:br>
            <a:r>
              <a:rPr lang="pt-PT" sz="2400">
                <a:latin typeface="Calibri"/>
                <a:ea typeface="Calibri"/>
                <a:cs typeface="Calibri"/>
              </a:rPr>
              <a:t>Cada ID deve ser único — ou seja, usado apenas uma vez em todo o documento HTML.</a:t>
            </a:r>
            <a:br>
              <a:rPr lang="pt-PT" sz="2400">
                <a:latin typeface="Calibri"/>
                <a:ea typeface="Calibri"/>
                <a:cs typeface="Calibri"/>
              </a:rPr>
            </a:br>
            <a:r>
              <a:rPr lang="pt-PT" sz="2400">
                <a:latin typeface="Calibri"/>
                <a:ea typeface="Calibri"/>
                <a:cs typeface="Calibri"/>
              </a:rPr>
              <a:t>Você o identifica no CSS com o símbolo #.</a:t>
            </a:r>
            <a:endParaRPr lang="pt-PT"/>
          </a:p>
          <a:p>
            <a:endParaRPr lang="pt-PT" sz="2400">
              <a:latin typeface="Calibri"/>
              <a:ea typeface="Calibri"/>
              <a:cs typeface="Calibri"/>
            </a:endParaRPr>
          </a:p>
          <a:p>
            <a:r>
              <a:rPr lang="pt-PT" sz="2400" b="1">
                <a:latin typeface="Calibri"/>
                <a:ea typeface="Calibri"/>
                <a:cs typeface="Calibri"/>
              </a:rPr>
              <a:t>Exemplo:</a:t>
            </a:r>
            <a:endParaRPr lang="pt-PT" b="1"/>
          </a:p>
          <a:p>
            <a:endParaRPr lang="pt-PT" sz="2400">
              <a:latin typeface="Calibri"/>
              <a:ea typeface="Calibri"/>
              <a:cs typeface="Calibri"/>
            </a:endParaRPr>
          </a:p>
          <a:p>
            <a:endParaRPr lang="pt-PT" sz="2400"/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826BB025-265E-0046-C2AE-09403828548F}"/>
              </a:ext>
            </a:extLst>
          </p:cNvPr>
          <p:cNvSpPr/>
          <p:nvPr/>
        </p:nvSpPr>
        <p:spPr>
          <a:xfrm rot="10800000" flipH="1">
            <a:off x="868643" y="-9328"/>
            <a:ext cx="195016" cy="135747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CE7C4842-042C-7178-AD3A-8571498D0D76}"/>
              </a:ext>
            </a:extLst>
          </p:cNvPr>
          <p:cNvSpPr txBox="1"/>
          <p:nvPr/>
        </p:nvSpPr>
        <p:spPr>
          <a:xfrm>
            <a:off x="733695" y="10093874"/>
            <a:ext cx="813242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 b="1" i="1">
                <a:latin typeface="Calibri"/>
                <a:ea typeface="Calibri"/>
                <a:cs typeface="Calibri"/>
              </a:rPr>
              <a:t>Resultado:</a:t>
            </a:r>
            <a:br>
              <a:rPr lang="pt-PT" sz="2400">
                <a:latin typeface="Calibri"/>
                <a:ea typeface="Calibri"/>
                <a:cs typeface="Calibri"/>
              </a:rPr>
            </a:br>
            <a:r>
              <a:rPr lang="pt-PT" sz="2400">
                <a:latin typeface="Calibri"/>
                <a:ea typeface="Calibri"/>
                <a:cs typeface="Calibri"/>
              </a:rPr>
              <a:t>O ID é ideal para áreas únicas, como o cabeçalho, o rodapé, ou uma seção especial do site.</a:t>
            </a:r>
            <a:br>
              <a:rPr lang="pt-PT" sz="2400">
                <a:latin typeface="Calibri"/>
                <a:ea typeface="Calibri"/>
                <a:cs typeface="Calibri"/>
              </a:rPr>
            </a:br>
            <a:r>
              <a:rPr lang="pt-PT" sz="2400">
                <a:latin typeface="Calibri"/>
                <a:ea typeface="Calibri"/>
                <a:cs typeface="Calibri"/>
              </a:rPr>
              <a:t>Por ser mais específico que outros seletores, ele sobrescreve regras de classes e </a:t>
            </a:r>
            <a:r>
              <a:rPr lang="pt-PT" sz="2400" err="1">
                <a:latin typeface="Calibri"/>
                <a:ea typeface="Calibri"/>
                <a:cs typeface="Calibri"/>
              </a:rPr>
              <a:t>tags</a:t>
            </a:r>
            <a:r>
              <a:rPr lang="pt-PT" sz="2400">
                <a:latin typeface="Calibri"/>
                <a:ea typeface="Calibri"/>
                <a:cs typeface="Calibri"/>
              </a:rPr>
              <a:t>.</a:t>
            </a:r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5B05FD0D-DD4D-59B6-1111-B67F2ECCC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8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3F8B297B-5646-10E4-C4DA-35F47313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  <p:pic>
        <p:nvPicPr>
          <p:cNvPr id="12" name="Imagem 11" descr="Teia Homem Aranha PNG Images | Vetores E Arquivos PSD | Download Grátis Em  Pngtree">
            <a:extLst>
              <a:ext uri="{FF2B5EF4-FFF2-40B4-BE49-F238E27FC236}">
                <a16:creationId xmlns:a16="http://schemas.microsoft.com/office/drawing/2014/main" id="{A7381247-D46F-DA28-85B0-FD0812E9E9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7" t="6058" r="-105" b="505"/>
          <a:stretch>
            <a:fillRect/>
          </a:stretch>
        </p:blipFill>
        <p:spPr>
          <a:xfrm rot="5400000">
            <a:off x="7731763" y="-97106"/>
            <a:ext cx="1773478" cy="1960923"/>
          </a:xfrm>
          <a:prstGeom prst="rect">
            <a:avLst/>
          </a:prstGeom>
        </p:spPr>
      </p:pic>
      <p:pic>
        <p:nvPicPr>
          <p:cNvPr id="2" name="Imagem 1" descr="Texto&#10;&#10;O conteúdo gerado por IA pode estar incorreto.">
            <a:extLst>
              <a:ext uri="{FF2B5EF4-FFF2-40B4-BE49-F238E27FC236}">
                <a16:creationId xmlns:a16="http://schemas.microsoft.com/office/drawing/2014/main" id="{94E5FE4A-0426-5FE8-D5EB-586D7A931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6" y="4922767"/>
            <a:ext cx="9391650" cy="5029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83354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3692F-03BA-4621-ACE3-D4335D998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EF4062A-C5CC-CCC9-3593-C160E92CB8AC}"/>
              </a:ext>
            </a:extLst>
          </p:cNvPr>
          <p:cNvSpPr/>
          <p:nvPr/>
        </p:nvSpPr>
        <p:spPr>
          <a:xfrm>
            <a:off x="0" y="0"/>
            <a:ext cx="9625098" cy="12853392"/>
          </a:xfrm>
          <a:prstGeom prst="rect">
            <a:avLst/>
          </a:prstGeom>
          <a:solidFill>
            <a:srgbClr val="03212E"/>
          </a:solidFill>
          <a:ln>
            <a:solidFill>
              <a:srgbClr val="1D2E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C10AF8E-468A-3F5A-A4C6-E5E13E50C966}"/>
              </a:ext>
            </a:extLst>
          </p:cNvPr>
          <p:cNvSpPr txBox="1"/>
          <p:nvPr/>
        </p:nvSpPr>
        <p:spPr>
          <a:xfrm>
            <a:off x="226129" y="2514146"/>
            <a:ext cx="9358659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6000" dirty="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Seletor de Descendentes: </a:t>
            </a:r>
            <a:endParaRPr lang="pt-PT" dirty="0">
              <a:solidFill>
                <a:schemeClr val="bg1"/>
              </a:solidFill>
              <a:latin typeface="Aptos" panose="020B0004020202020204"/>
              <a:ea typeface="+mn-lt"/>
              <a:cs typeface="+mn-lt"/>
            </a:endParaRPr>
          </a:p>
          <a:p>
            <a:pPr algn="ctr"/>
            <a:endParaRPr lang="pt-PT" sz="6000" dirty="0">
              <a:solidFill>
                <a:schemeClr val="bg1"/>
              </a:solidFill>
              <a:latin typeface="Rockwell Extra Bold"/>
              <a:ea typeface="+mn-lt"/>
              <a:cs typeface="+mn-lt"/>
            </a:endParaRPr>
          </a:p>
          <a:p>
            <a:pPr algn="ctr"/>
            <a:r>
              <a:rPr lang="pt-PT" sz="6000" dirty="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 Herança dos Estilos</a:t>
            </a:r>
            <a:endParaRPr lang="pt-PT" dirty="0">
              <a:solidFill>
                <a:schemeClr val="bg1"/>
              </a:solidFill>
              <a:latin typeface="Aptos" panose="020B0004020202020204"/>
            </a:endParaRPr>
          </a:p>
        </p:txBody>
      </p:sp>
      <p:sp>
        <p:nvSpPr>
          <p:cNvPr id="6" name="Paralelogramo 5">
            <a:extLst>
              <a:ext uri="{FF2B5EF4-FFF2-40B4-BE49-F238E27FC236}">
                <a16:creationId xmlns:a16="http://schemas.microsoft.com/office/drawing/2014/main" id="{327B39A2-05DF-01DE-D7D2-6F5D30BCF5A6}"/>
              </a:ext>
            </a:extLst>
          </p:cNvPr>
          <p:cNvSpPr/>
          <p:nvPr/>
        </p:nvSpPr>
        <p:spPr>
          <a:xfrm>
            <a:off x="1334282" y="7585032"/>
            <a:ext cx="6934853" cy="179349"/>
          </a:xfrm>
          <a:prstGeom prst="parallelogram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24302A9-BA42-1326-CCCB-FB10C32375A8}"/>
              </a:ext>
            </a:extLst>
          </p:cNvPr>
          <p:cNvSpPr txBox="1"/>
          <p:nvPr/>
        </p:nvSpPr>
        <p:spPr>
          <a:xfrm>
            <a:off x="6139064" y="-3240"/>
            <a:ext cx="526058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9600" b="1" u="sng">
                <a:solidFill>
                  <a:schemeClr val="bg1"/>
                </a:solidFill>
                <a:latin typeface="Aptos"/>
                <a:ea typeface="HGGothicE"/>
              </a:rPr>
              <a:t>04</a:t>
            </a:r>
            <a:endParaRPr lang="pt-PT" sz="8000" b="1" u="sng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D2451F-F53B-52E0-E44A-24B0D553050F}"/>
              </a:ext>
            </a:extLst>
          </p:cNvPr>
          <p:cNvSpPr txBox="1"/>
          <p:nvPr/>
        </p:nvSpPr>
        <p:spPr>
          <a:xfrm>
            <a:off x="1626662" y="7999554"/>
            <a:ext cx="635340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Afeta elementos dentro de outros, criando hierarquias.</a:t>
            </a:r>
            <a:endParaRPr lang="pt-PT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16DBB74B-7D72-F052-B9B8-7F218A97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9</a:t>
            </a:fld>
            <a:endParaRPr lang="pt-PT"/>
          </a:p>
        </p:txBody>
      </p:sp>
      <p:sp>
        <p:nvSpPr>
          <p:cNvPr id="2" name="Marcador de Posição do Rodapé 1">
            <a:extLst>
              <a:ext uri="{FF2B5EF4-FFF2-40B4-BE49-F238E27FC236}">
                <a16:creationId xmlns:a16="http://schemas.microsoft.com/office/drawing/2014/main" id="{DB804E83-F556-60BD-52B5-9499DB359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</p:spTree>
    <p:extLst>
      <p:ext uri="{BB962C8B-B14F-4D97-AF65-F5344CB8AC3E}">
        <p14:creationId xmlns:p14="http://schemas.microsoft.com/office/powerpoint/2010/main" val="1593734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AA569-F3D3-38CC-3296-C2E1DBC6C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ulo_Componente">
            <a:extLst>
              <a:ext uri="{FF2B5EF4-FFF2-40B4-BE49-F238E27FC236}">
                <a16:creationId xmlns:a16="http://schemas.microsoft.com/office/drawing/2014/main" id="{C89710E1-0DF5-0699-7926-4D10534B1302}"/>
              </a:ext>
            </a:extLst>
          </p:cNvPr>
          <p:cNvSpPr txBox="1"/>
          <p:nvPr/>
        </p:nvSpPr>
        <p:spPr>
          <a:xfrm>
            <a:off x="1668502" y="872771"/>
            <a:ext cx="629804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4000" b="1">
                <a:latin typeface="Lucida Sans Unicode"/>
                <a:ea typeface="+mn-lt"/>
                <a:cs typeface="Lucida Sans Unicode"/>
              </a:rPr>
              <a:t>Seletor de Descendentes</a:t>
            </a:r>
            <a:endParaRPr lang="pt-PT" b="1"/>
          </a:p>
          <a:p>
            <a:endParaRPr lang="pt-PT" sz="3200"/>
          </a:p>
        </p:txBody>
      </p:sp>
      <p:sp>
        <p:nvSpPr>
          <p:cNvPr id="7" name="texto_componente">
            <a:extLst>
              <a:ext uri="{FF2B5EF4-FFF2-40B4-BE49-F238E27FC236}">
                <a16:creationId xmlns:a16="http://schemas.microsoft.com/office/drawing/2014/main" id="{166D659D-823D-254F-A007-55B73F87C1AB}"/>
              </a:ext>
            </a:extLst>
          </p:cNvPr>
          <p:cNvSpPr txBox="1"/>
          <p:nvPr/>
        </p:nvSpPr>
        <p:spPr>
          <a:xfrm>
            <a:off x="1073305" y="2248989"/>
            <a:ext cx="742989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>
                <a:latin typeface="Calibri"/>
                <a:ea typeface="Calibri"/>
                <a:cs typeface="Calibri"/>
              </a:rPr>
              <a:t>Os seletores descendentes permitem aplicar estilos a elementos que estão dentro de outros elementos.</a:t>
            </a:r>
            <a:br>
              <a:rPr lang="pt-PT" sz="2400">
                <a:latin typeface="Calibri"/>
                <a:ea typeface="Calibri"/>
                <a:cs typeface="Calibri"/>
              </a:rPr>
            </a:br>
            <a:r>
              <a:rPr lang="pt-PT" sz="2400">
                <a:latin typeface="Calibri"/>
                <a:ea typeface="Calibri"/>
                <a:cs typeface="Calibri"/>
              </a:rPr>
              <a:t>Eles são escritos separando os seletores por um espaço.</a:t>
            </a:r>
            <a:endParaRPr lang="pt-PT"/>
          </a:p>
          <a:p>
            <a:endParaRPr lang="pt-PT" sz="2400">
              <a:latin typeface="Calibri"/>
              <a:ea typeface="Calibri"/>
              <a:cs typeface="Calibri"/>
            </a:endParaRPr>
          </a:p>
          <a:p>
            <a:r>
              <a:rPr lang="pt-PT" sz="2400" b="1">
                <a:latin typeface="Calibri"/>
                <a:ea typeface="Calibri"/>
                <a:cs typeface="Calibri"/>
              </a:rPr>
              <a:t>Exemplo:</a:t>
            </a:r>
            <a:endParaRPr lang="pt-PT" b="1"/>
          </a:p>
          <a:p>
            <a:endParaRPr lang="pt-PT" sz="2400">
              <a:latin typeface="Calibri"/>
              <a:ea typeface="Calibri"/>
              <a:cs typeface="Calibri"/>
            </a:endParaRPr>
          </a:p>
          <a:p>
            <a:endParaRPr lang="pt-PT" sz="2400"/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F848D4E0-819F-EA05-F5FC-416283542C07}"/>
              </a:ext>
            </a:extLst>
          </p:cNvPr>
          <p:cNvSpPr/>
          <p:nvPr/>
        </p:nvSpPr>
        <p:spPr>
          <a:xfrm rot="10800000" flipH="1">
            <a:off x="868643" y="-9328"/>
            <a:ext cx="195016" cy="135747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73779FC1-80F4-DECF-9651-838896E254F3}"/>
              </a:ext>
            </a:extLst>
          </p:cNvPr>
          <p:cNvSpPr txBox="1"/>
          <p:nvPr/>
        </p:nvSpPr>
        <p:spPr>
          <a:xfrm>
            <a:off x="961826" y="9547464"/>
            <a:ext cx="700515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 b="1" i="1">
                <a:latin typeface="Calibri"/>
                <a:ea typeface="Calibri"/>
                <a:cs typeface="Calibri"/>
              </a:rPr>
              <a:t>Resultado:</a:t>
            </a:r>
            <a:br>
              <a:rPr lang="pt-PT" sz="2400">
                <a:latin typeface="Calibri"/>
                <a:ea typeface="Calibri"/>
                <a:cs typeface="Calibri"/>
              </a:rPr>
            </a:br>
            <a:r>
              <a:rPr lang="pt-PT" sz="2400">
                <a:latin typeface="Calibri"/>
                <a:ea typeface="Calibri"/>
                <a:cs typeface="Calibri"/>
              </a:rPr>
              <a:t>Todos os parágrafos (&lt;p&gt;) dentro de &lt;</a:t>
            </a:r>
            <a:r>
              <a:rPr lang="pt-PT" sz="2400" err="1">
                <a:latin typeface="Calibri"/>
                <a:ea typeface="Calibri"/>
                <a:cs typeface="Calibri"/>
              </a:rPr>
              <a:t>section</a:t>
            </a:r>
            <a:r>
              <a:rPr lang="pt-PT" sz="2400">
                <a:latin typeface="Calibri"/>
                <a:ea typeface="Calibri"/>
                <a:cs typeface="Calibri"/>
              </a:rPr>
              <a:t>&gt; ficam verdes (#228B22) e tamanho 14px, mas parágrafos fora da &lt;</a:t>
            </a:r>
            <a:r>
              <a:rPr lang="pt-PT" sz="2400" err="1">
                <a:latin typeface="Calibri"/>
                <a:ea typeface="Calibri"/>
                <a:cs typeface="Calibri"/>
              </a:rPr>
              <a:t>section</a:t>
            </a:r>
            <a:r>
              <a:rPr lang="pt-PT" sz="2400">
                <a:latin typeface="Calibri"/>
                <a:ea typeface="Calibri"/>
                <a:cs typeface="Calibri"/>
              </a:rPr>
              <a:t>&gt; não são afetados.</a:t>
            </a:r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4EF558C5-6DA6-3096-7556-D5D08909C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10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B7AD797-47EF-2D3C-ABDA-41E8509BF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  <p:pic>
        <p:nvPicPr>
          <p:cNvPr id="12" name="Imagem 11" descr="Teia Homem Aranha PNG Images | Vetores E Arquivos PSD | Download Grátis Em  Pngtree">
            <a:extLst>
              <a:ext uri="{FF2B5EF4-FFF2-40B4-BE49-F238E27FC236}">
                <a16:creationId xmlns:a16="http://schemas.microsoft.com/office/drawing/2014/main" id="{EC1E9CAD-9490-802C-2A15-7F926ED106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7" t="6058" r="-105" b="505"/>
          <a:stretch>
            <a:fillRect/>
          </a:stretch>
        </p:blipFill>
        <p:spPr>
          <a:xfrm rot="5400000">
            <a:off x="7731763" y="-97586"/>
            <a:ext cx="1773478" cy="196092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8BFFAAEA-754D-B880-D435-0DE264694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6" y="4277920"/>
            <a:ext cx="9391650" cy="46863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03719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E247E-BD2C-24F2-5429-3B1D1B5D8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E1AB524-37DF-4FDA-4A01-222F818494C2}"/>
              </a:ext>
            </a:extLst>
          </p:cNvPr>
          <p:cNvSpPr/>
          <p:nvPr/>
        </p:nvSpPr>
        <p:spPr>
          <a:xfrm>
            <a:off x="0" y="0"/>
            <a:ext cx="9625098" cy="12853392"/>
          </a:xfrm>
          <a:prstGeom prst="rect">
            <a:avLst/>
          </a:prstGeom>
          <a:solidFill>
            <a:srgbClr val="03212E"/>
          </a:solidFill>
          <a:ln>
            <a:solidFill>
              <a:srgbClr val="1D2E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B647399-DD2F-080E-3496-8549C6CF08C3}"/>
              </a:ext>
            </a:extLst>
          </p:cNvPr>
          <p:cNvSpPr txBox="1"/>
          <p:nvPr/>
        </p:nvSpPr>
        <p:spPr>
          <a:xfrm>
            <a:off x="226129" y="2514146"/>
            <a:ext cx="9358659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6000" dirty="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Seletor de Filho Direto: </a:t>
            </a:r>
            <a:endParaRPr lang="pt-PT" dirty="0">
              <a:solidFill>
                <a:schemeClr val="bg1"/>
              </a:solidFill>
              <a:latin typeface="Aptos" panose="020B0004020202020204"/>
              <a:ea typeface="+mn-lt"/>
              <a:cs typeface="+mn-lt"/>
            </a:endParaRPr>
          </a:p>
          <a:p>
            <a:pPr algn="ctr"/>
            <a:endParaRPr lang="pt-PT" sz="6000" dirty="0">
              <a:solidFill>
                <a:schemeClr val="bg1"/>
              </a:solidFill>
              <a:latin typeface="Rockwell Extra Bold"/>
              <a:ea typeface="+mn-lt"/>
              <a:cs typeface="+mn-lt"/>
            </a:endParaRPr>
          </a:p>
          <a:p>
            <a:pPr algn="ctr"/>
            <a:r>
              <a:rPr lang="pt-PT" sz="6000" dirty="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 Precisão total</a:t>
            </a:r>
            <a:endParaRPr lang="pt-PT" dirty="0">
              <a:solidFill>
                <a:schemeClr val="bg1"/>
              </a:solidFill>
              <a:latin typeface="Aptos" panose="020B0004020202020204"/>
            </a:endParaRPr>
          </a:p>
        </p:txBody>
      </p:sp>
      <p:sp>
        <p:nvSpPr>
          <p:cNvPr id="6" name="Paralelogramo 5">
            <a:extLst>
              <a:ext uri="{FF2B5EF4-FFF2-40B4-BE49-F238E27FC236}">
                <a16:creationId xmlns:a16="http://schemas.microsoft.com/office/drawing/2014/main" id="{A18BD4FE-B71D-EB5E-0296-BFFB2F9D1092}"/>
              </a:ext>
            </a:extLst>
          </p:cNvPr>
          <p:cNvSpPr/>
          <p:nvPr/>
        </p:nvSpPr>
        <p:spPr>
          <a:xfrm>
            <a:off x="1334282" y="7585032"/>
            <a:ext cx="6934853" cy="179349"/>
          </a:xfrm>
          <a:prstGeom prst="parallelogram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0BF9AB3-9BF7-206B-3B55-B692373F058F}"/>
              </a:ext>
            </a:extLst>
          </p:cNvPr>
          <p:cNvSpPr txBox="1"/>
          <p:nvPr/>
        </p:nvSpPr>
        <p:spPr>
          <a:xfrm>
            <a:off x="6139064" y="-3240"/>
            <a:ext cx="526058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9600" b="1" u="sng">
                <a:solidFill>
                  <a:schemeClr val="bg1"/>
                </a:solidFill>
                <a:latin typeface="Aptos"/>
                <a:ea typeface="HGGothicE"/>
              </a:rPr>
              <a:t>05</a:t>
            </a:r>
            <a:endParaRPr lang="pt-PT" sz="8000" b="1" u="sng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B6274F6-EBAE-B4A1-1856-8AB9908E0250}"/>
              </a:ext>
            </a:extLst>
          </p:cNvPr>
          <p:cNvSpPr txBox="1"/>
          <p:nvPr/>
        </p:nvSpPr>
        <p:spPr>
          <a:xfrm>
            <a:off x="1626662" y="7999554"/>
            <a:ext cx="635340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Afeta apenas elementos diretamente dentro de outro, ignorando os mais profundos</a:t>
            </a:r>
            <a:endParaRPr lang="pt-PT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1475F994-E969-35A7-801B-D8A706B2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11</a:t>
            </a:fld>
            <a:endParaRPr lang="pt-PT"/>
          </a:p>
        </p:txBody>
      </p:sp>
      <p:sp>
        <p:nvSpPr>
          <p:cNvPr id="2" name="Marcador de Posição do Rodapé 1">
            <a:extLst>
              <a:ext uri="{FF2B5EF4-FFF2-40B4-BE49-F238E27FC236}">
                <a16:creationId xmlns:a16="http://schemas.microsoft.com/office/drawing/2014/main" id="{ACFAFA85-3253-FB4A-604A-AD1610FCA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</p:spTree>
    <p:extLst>
      <p:ext uri="{BB962C8B-B14F-4D97-AF65-F5344CB8AC3E}">
        <p14:creationId xmlns:p14="http://schemas.microsoft.com/office/powerpoint/2010/main" val="2247624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5736B-12AD-7F76-D365-27BC3F42B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ulo_Componente">
            <a:extLst>
              <a:ext uri="{FF2B5EF4-FFF2-40B4-BE49-F238E27FC236}">
                <a16:creationId xmlns:a16="http://schemas.microsoft.com/office/drawing/2014/main" id="{D93EC892-004E-DB40-71DD-BC3641232785}"/>
              </a:ext>
            </a:extLst>
          </p:cNvPr>
          <p:cNvSpPr txBox="1"/>
          <p:nvPr/>
        </p:nvSpPr>
        <p:spPr>
          <a:xfrm>
            <a:off x="1668502" y="872771"/>
            <a:ext cx="629804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4000" b="1">
                <a:solidFill>
                  <a:srgbClr val="000000"/>
                </a:solidFill>
                <a:latin typeface="Lucida Sans Unicode"/>
                <a:ea typeface="+mn-lt"/>
                <a:cs typeface="Lucida Sans Unicode"/>
              </a:rPr>
              <a:t>Seletor de Filho Direto </a:t>
            </a:r>
            <a:endParaRPr lang="pt-BR"/>
          </a:p>
          <a:p>
            <a:endParaRPr lang="pt-PT" sz="3200"/>
          </a:p>
        </p:txBody>
      </p:sp>
      <p:sp>
        <p:nvSpPr>
          <p:cNvPr id="7" name="texto_componente">
            <a:extLst>
              <a:ext uri="{FF2B5EF4-FFF2-40B4-BE49-F238E27FC236}">
                <a16:creationId xmlns:a16="http://schemas.microsoft.com/office/drawing/2014/main" id="{7FB1BB73-710F-8C08-4DEC-2E01BD7DDA69}"/>
              </a:ext>
            </a:extLst>
          </p:cNvPr>
          <p:cNvSpPr txBox="1"/>
          <p:nvPr/>
        </p:nvSpPr>
        <p:spPr>
          <a:xfrm>
            <a:off x="1112334" y="2327048"/>
            <a:ext cx="742989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>
                <a:latin typeface="Calibri"/>
                <a:ea typeface="Calibri"/>
                <a:cs typeface="Calibri"/>
              </a:rPr>
              <a:t>O seletor de filho direto é parecido com o descendente, mas com uma diferença importante: ele só afeta os elementos que são filhos imediatos do elemento pai, e não os que estão mais profundos na hierarquia.</a:t>
            </a:r>
            <a:br>
              <a:rPr lang="pt-PT" sz="2400">
                <a:latin typeface="Calibri"/>
                <a:ea typeface="Calibri"/>
                <a:cs typeface="Calibri"/>
              </a:rPr>
            </a:br>
            <a:r>
              <a:rPr lang="pt-PT" sz="2400">
                <a:latin typeface="Calibri"/>
                <a:ea typeface="Calibri"/>
                <a:cs typeface="Calibri"/>
              </a:rPr>
              <a:t>A sintaxe usa o sinal de &gt; entre os seletores.</a:t>
            </a:r>
            <a:endParaRPr lang="pt-PT"/>
          </a:p>
          <a:p>
            <a:endParaRPr lang="pt-PT" sz="2400">
              <a:latin typeface="Calibri"/>
              <a:ea typeface="Calibri"/>
              <a:cs typeface="Calibri"/>
            </a:endParaRPr>
          </a:p>
          <a:p>
            <a:r>
              <a:rPr lang="pt-PT" sz="2400" b="1">
                <a:latin typeface="Calibri"/>
                <a:ea typeface="Calibri"/>
                <a:cs typeface="Calibri"/>
              </a:rPr>
              <a:t>Exemplo:</a:t>
            </a:r>
            <a:endParaRPr lang="pt-PT" b="1"/>
          </a:p>
          <a:p>
            <a:endParaRPr lang="pt-PT" sz="2400">
              <a:latin typeface="Calibri"/>
              <a:ea typeface="Calibri"/>
              <a:cs typeface="Calibri"/>
            </a:endParaRPr>
          </a:p>
          <a:p>
            <a:endParaRPr lang="pt-PT" sz="2400"/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276A66B9-9B1A-94BC-0B81-13BE44FA7925}"/>
              </a:ext>
            </a:extLst>
          </p:cNvPr>
          <p:cNvSpPr/>
          <p:nvPr/>
        </p:nvSpPr>
        <p:spPr>
          <a:xfrm rot="10800000" flipH="1">
            <a:off x="868643" y="-9328"/>
            <a:ext cx="195016" cy="135747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77698B94-E787-A0DE-822B-6229A695434B}"/>
              </a:ext>
            </a:extLst>
          </p:cNvPr>
          <p:cNvSpPr txBox="1"/>
          <p:nvPr/>
        </p:nvSpPr>
        <p:spPr>
          <a:xfrm>
            <a:off x="741556" y="9547464"/>
            <a:ext cx="813242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 b="1" i="1">
                <a:latin typeface="Calibri"/>
                <a:ea typeface="Calibri"/>
                <a:cs typeface="Calibri"/>
              </a:rPr>
              <a:t>Resultado:</a:t>
            </a:r>
            <a:br>
              <a:rPr lang="pt-PT" sz="2400">
                <a:latin typeface="Calibri"/>
                <a:ea typeface="Calibri"/>
                <a:cs typeface="Calibri"/>
              </a:rPr>
            </a:br>
            <a:r>
              <a:rPr lang="pt-PT" sz="2400">
                <a:latin typeface="Calibri"/>
                <a:ea typeface="Calibri"/>
                <a:cs typeface="Calibri"/>
              </a:rPr>
              <a:t>Resultado: apenas os itens do primeiro nível do &lt;</a:t>
            </a:r>
            <a:r>
              <a:rPr lang="pt-PT" sz="2400" err="1">
                <a:latin typeface="Calibri"/>
                <a:ea typeface="Calibri"/>
                <a:cs typeface="Calibri"/>
              </a:rPr>
              <a:t>ul</a:t>
            </a:r>
            <a:r>
              <a:rPr lang="pt-PT" sz="2400">
                <a:latin typeface="Calibri"/>
                <a:ea typeface="Calibri"/>
                <a:cs typeface="Calibri"/>
              </a:rPr>
              <a:t>&gt; ficam roxos.</a:t>
            </a:r>
            <a:endParaRPr lang="pt-PT">
              <a:latin typeface="Aptos"/>
              <a:ea typeface="Calibri"/>
              <a:cs typeface="Calibri"/>
            </a:endParaRPr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15E96418-8C27-4D35-1E52-ED74CBF47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12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8A6AF87C-C441-0612-7762-A551C2574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  <p:pic>
        <p:nvPicPr>
          <p:cNvPr id="12" name="Imagem 11" descr="Teia Homem Aranha PNG Images | Vetores E Arquivos PSD | Download Grátis Em  Pngtree">
            <a:extLst>
              <a:ext uri="{FF2B5EF4-FFF2-40B4-BE49-F238E27FC236}">
                <a16:creationId xmlns:a16="http://schemas.microsoft.com/office/drawing/2014/main" id="{90D92F9A-080A-4BF8-6D06-4B14B3FD3B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7" t="6058" r="-105" b="505"/>
          <a:stretch>
            <a:fillRect/>
          </a:stretch>
        </p:blipFill>
        <p:spPr>
          <a:xfrm rot="5400000">
            <a:off x="7731763" y="-106660"/>
            <a:ext cx="1773478" cy="1960923"/>
          </a:xfrm>
          <a:prstGeom prst="rect">
            <a:avLst/>
          </a:prstGeom>
        </p:spPr>
      </p:pic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D41A2AD5-FF7F-DA27-612B-2C4960353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6" y="4964222"/>
            <a:ext cx="9391650" cy="43243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63549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B16BF-867F-FBDD-D838-CB15B858E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30E3C77-DE50-885D-F61C-CB0BE84BED43}"/>
              </a:ext>
            </a:extLst>
          </p:cNvPr>
          <p:cNvSpPr/>
          <p:nvPr/>
        </p:nvSpPr>
        <p:spPr>
          <a:xfrm>
            <a:off x="0" y="0"/>
            <a:ext cx="9625098" cy="12853392"/>
          </a:xfrm>
          <a:prstGeom prst="rect">
            <a:avLst/>
          </a:prstGeom>
          <a:solidFill>
            <a:srgbClr val="03212E"/>
          </a:solidFill>
          <a:ln>
            <a:solidFill>
              <a:srgbClr val="1D2E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7760B9-C888-9911-AA19-EAD912436273}"/>
              </a:ext>
            </a:extLst>
          </p:cNvPr>
          <p:cNvSpPr txBox="1"/>
          <p:nvPr/>
        </p:nvSpPr>
        <p:spPr>
          <a:xfrm>
            <a:off x="226129" y="2514146"/>
            <a:ext cx="9358659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6000" dirty="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Seletor de Atributo: </a:t>
            </a:r>
            <a:endParaRPr lang="pt-PT" dirty="0">
              <a:solidFill>
                <a:schemeClr val="bg1"/>
              </a:solidFill>
            </a:endParaRPr>
          </a:p>
          <a:p>
            <a:pPr algn="ctr"/>
            <a:endParaRPr lang="pt-PT" sz="6000" dirty="0">
              <a:solidFill>
                <a:schemeClr val="bg1"/>
              </a:solidFill>
              <a:latin typeface="Rockwell Extra Bold"/>
              <a:ea typeface="+mn-lt"/>
              <a:cs typeface="+mn-lt"/>
            </a:endParaRPr>
          </a:p>
          <a:p>
            <a:pPr algn="ctr"/>
            <a:r>
              <a:rPr lang="pt-PT" sz="6000" dirty="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 Estilo baseado em atributos</a:t>
            </a:r>
            <a:endParaRPr lang="pt-PT">
              <a:solidFill>
                <a:schemeClr val="bg1"/>
              </a:solidFill>
              <a:latin typeface="Aptos"/>
              <a:ea typeface="+mn-lt"/>
              <a:cs typeface="+mn-lt"/>
            </a:endParaRPr>
          </a:p>
        </p:txBody>
      </p:sp>
      <p:sp>
        <p:nvSpPr>
          <p:cNvPr id="6" name="Paralelogramo 5">
            <a:extLst>
              <a:ext uri="{FF2B5EF4-FFF2-40B4-BE49-F238E27FC236}">
                <a16:creationId xmlns:a16="http://schemas.microsoft.com/office/drawing/2014/main" id="{8817583B-FC98-8ACE-4221-17ECDC959AA5}"/>
              </a:ext>
            </a:extLst>
          </p:cNvPr>
          <p:cNvSpPr/>
          <p:nvPr/>
        </p:nvSpPr>
        <p:spPr>
          <a:xfrm>
            <a:off x="1334282" y="7585032"/>
            <a:ext cx="6934853" cy="179349"/>
          </a:xfrm>
          <a:prstGeom prst="parallelogram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EFC2DCE-8402-0FB4-36E8-0F7567956086}"/>
              </a:ext>
            </a:extLst>
          </p:cNvPr>
          <p:cNvSpPr txBox="1"/>
          <p:nvPr/>
        </p:nvSpPr>
        <p:spPr>
          <a:xfrm>
            <a:off x="6139064" y="-3240"/>
            <a:ext cx="526058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9600" b="1" u="sng">
                <a:solidFill>
                  <a:schemeClr val="bg1"/>
                </a:solidFill>
                <a:latin typeface="Aptos"/>
                <a:ea typeface="HGGothicE"/>
              </a:rPr>
              <a:t>06</a:t>
            </a:r>
            <a:endParaRPr lang="pt-PT" sz="8000" b="1" u="sng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D69CF9F-8F08-65A8-9517-B0814A40A2D7}"/>
              </a:ext>
            </a:extLst>
          </p:cNvPr>
          <p:cNvSpPr txBox="1"/>
          <p:nvPr/>
        </p:nvSpPr>
        <p:spPr>
          <a:xfrm>
            <a:off x="1626662" y="7999554"/>
            <a:ext cx="643146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Permite selecionar elementos que possuem atributos específicos ou valores determinados, como tipos de input ou links.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ABA1ADC6-110F-B0DA-E330-2A21004A3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13</a:t>
            </a:fld>
            <a:endParaRPr lang="pt-PT"/>
          </a:p>
        </p:txBody>
      </p:sp>
      <p:sp>
        <p:nvSpPr>
          <p:cNvPr id="2" name="Marcador de Posição do Rodapé 1">
            <a:extLst>
              <a:ext uri="{FF2B5EF4-FFF2-40B4-BE49-F238E27FC236}">
                <a16:creationId xmlns:a16="http://schemas.microsoft.com/office/drawing/2014/main" id="{13240EFA-DA29-2668-D6AC-552604CE7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</p:spTree>
    <p:extLst>
      <p:ext uri="{BB962C8B-B14F-4D97-AF65-F5344CB8AC3E}">
        <p14:creationId xmlns:p14="http://schemas.microsoft.com/office/powerpoint/2010/main" val="501480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D98D7-AA18-CCF4-32EE-866C68297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ulo_Componente">
            <a:extLst>
              <a:ext uri="{FF2B5EF4-FFF2-40B4-BE49-F238E27FC236}">
                <a16:creationId xmlns:a16="http://schemas.microsoft.com/office/drawing/2014/main" id="{324700D3-EDE6-1D5B-20E3-9301996D5113}"/>
              </a:ext>
            </a:extLst>
          </p:cNvPr>
          <p:cNvSpPr txBox="1"/>
          <p:nvPr/>
        </p:nvSpPr>
        <p:spPr>
          <a:xfrm>
            <a:off x="1668502" y="872771"/>
            <a:ext cx="629804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4000" b="1">
                <a:solidFill>
                  <a:srgbClr val="000000"/>
                </a:solidFill>
                <a:latin typeface="Lucida Sans Unicode"/>
                <a:ea typeface="+mn-lt"/>
                <a:cs typeface="Lucida Sans Unicode"/>
              </a:rPr>
              <a:t>Seletor de Atributo </a:t>
            </a:r>
            <a:endParaRPr lang="pt-BR"/>
          </a:p>
          <a:p>
            <a:endParaRPr lang="pt-PT" sz="3200"/>
          </a:p>
        </p:txBody>
      </p:sp>
      <p:sp>
        <p:nvSpPr>
          <p:cNvPr id="7" name="texto_componente">
            <a:extLst>
              <a:ext uri="{FF2B5EF4-FFF2-40B4-BE49-F238E27FC236}">
                <a16:creationId xmlns:a16="http://schemas.microsoft.com/office/drawing/2014/main" id="{C19FC7E9-05C2-8372-00A5-0058E5650AD8}"/>
              </a:ext>
            </a:extLst>
          </p:cNvPr>
          <p:cNvSpPr txBox="1"/>
          <p:nvPr/>
        </p:nvSpPr>
        <p:spPr>
          <a:xfrm>
            <a:off x="1099377" y="2080863"/>
            <a:ext cx="7429899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>
                <a:latin typeface="Calibri"/>
                <a:ea typeface="Calibri"/>
                <a:cs typeface="Calibri"/>
              </a:rPr>
              <a:t>O seletor de atributo estiliza elementos que possuem um atributo específico ou valor específico.</a:t>
            </a:r>
            <a:br>
              <a:rPr lang="pt-PT" sz="2400">
                <a:latin typeface="Calibri"/>
                <a:ea typeface="Calibri"/>
                <a:cs typeface="Calibri"/>
              </a:rPr>
            </a:br>
            <a:r>
              <a:rPr lang="pt-PT" sz="2400">
                <a:latin typeface="Calibri"/>
                <a:ea typeface="Calibri"/>
                <a:cs typeface="Calibri"/>
              </a:rPr>
              <a:t> Ele é útil para campos de formulário ou links que compartilham atributos comuns.</a:t>
            </a:r>
            <a:endParaRPr lang="pt-BR"/>
          </a:p>
          <a:p>
            <a:endParaRPr lang="pt-PT" sz="2400">
              <a:latin typeface="Calibri"/>
              <a:ea typeface="Calibri"/>
              <a:cs typeface="Calibri"/>
            </a:endParaRPr>
          </a:p>
          <a:p>
            <a:r>
              <a:rPr lang="pt-PT" sz="2400" b="1">
                <a:latin typeface="Calibri"/>
                <a:ea typeface="Calibri"/>
                <a:cs typeface="Calibri"/>
              </a:rPr>
              <a:t>Exemplo:</a:t>
            </a:r>
            <a:endParaRPr lang="pt-PT" b="1"/>
          </a:p>
          <a:p>
            <a:endParaRPr lang="pt-PT" sz="2400">
              <a:latin typeface="Calibri"/>
              <a:ea typeface="Calibri"/>
              <a:cs typeface="Calibri"/>
            </a:endParaRPr>
          </a:p>
          <a:p>
            <a:endParaRPr lang="pt-PT" sz="2400"/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376E87F8-5C3A-1594-B8D9-A155A5C4CF34}"/>
              </a:ext>
            </a:extLst>
          </p:cNvPr>
          <p:cNvSpPr/>
          <p:nvPr/>
        </p:nvSpPr>
        <p:spPr>
          <a:xfrm rot="10800000" flipH="1">
            <a:off x="868643" y="-9328"/>
            <a:ext cx="195016" cy="135747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A359F260-FC59-98B9-4629-FD79BE98AD8E}"/>
              </a:ext>
            </a:extLst>
          </p:cNvPr>
          <p:cNvSpPr txBox="1"/>
          <p:nvPr/>
        </p:nvSpPr>
        <p:spPr>
          <a:xfrm>
            <a:off x="741556" y="9547464"/>
            <a:ext cx="813242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 b="1" i="1">
                <a:latin typeface="Calibri"/>
                <a:ea typeface="Calibri"/>
                <a:cs typeface="Calibri"/>
              </a:rPr>
              <a:t>Resultado:</a:t>
            </a:r>
            <a:br>
              <a:rPr lang="pt-PT" sz="2400">
                <a:latin typeface="Calibri"/>
                <a:ea typeface="Calibri"/>
                <a:cs typeface="Calibri"/>
              </a:rPr>
            </a:br>
            <a:r>
              <a:rPr lang="pt-PT" sz="2400">
                <a:latin typeface="Calibri"/>
                <a:ea typeface="Calibri"/>
                <a:cs typeface="Calibri"/>
              </a:rPr>
              <a:t>Apenas o campo de texto recebe a borda azul.</a:t>
            </a:r>
            <a:endParaRPr lang="pt-PT">
              <a:latin typeface="Aptos"/>
              <a:ea typeface="Calibri"/>
              <a:cs typeface="Calibri"/>
            </a:endParaRPr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5E4551DA-EADF-EC42-2C4A-2C7864FE4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14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EB8D4768-EE36-3FC2-9D77-2DFA2A0A6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  <p:pic>
        <p:nvPicPr>
          <p:cNvPr id="12" name="Imagem 11" descr="Teia Homem Aranha PNG Images | Vetores E Arquivos PSD | Download Grátis Em  Pngtree">
            <a:extLst>
              <a:ext uri="{FF2B5EF4-FFF2-40B4-BE49-F238E27FC236}">
                <a16:creationId xmlns:a16="http://schemas.microsoft.com/office/drawing/2014/main" id="{89E11420-2EB7-0DC4-DEE1-B63F771EE2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7" t="6058" r="-105" b="505"/>
          <a:stretch>
            <a:fillRect/>
          </a:stretch>
        </p:blipFill>
        <p:spPr>
          <a:xfrm rot="5400000">
            <a:off x="7731763" y="-107618"/>
            <a:ext cx="1773478" cy="1960923"/>
          </a:xfrm>
          <a:prstGeom prst="rect">
            <a:avLst/>
          </a:prstGeom>
        </p:spPr>
      </p:pic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D4B07688-722E-0936-3393-F739FA137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6" y="4445938"/>
            <a:ext cx="9391650" cy="43243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68288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E34CE-3B70-A83D-8F91-62E8B35D9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5998C1B-0D35-54BC-87BD-CAFED8C8D8E6}"/>
              </a:ext>
            </a:extLst>
          </p:cNvPr>
          <p:cNvSpPr/>
          <p:nvPr/>
        </p:nvSpPr>
        <p:spPr>
          <a:xfrm>
            <a:off x="0" y="0"/>
            <a:ext cx="9625098" cy="12853392"/>
          </a:xfrm>
          <a:prstGeom prst="rect">
            <a:avLst/>
          </a:prstGeom>
          <a:solidFill>
            <a:srgbClr val="03212E"/>
          </a:solidFill>
          <a:ln>
            <a:solidFill>
              <a:srgbClr val="1D2E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E933904-FB26-8785-9AEC-EDAB54B669BF}"/>
              </a:ext>
            </a:extLst>
          </p:cNvPr>
          <p:cNvSpPr txBox="1"/>
          <p:nvPr/>
        </p:nvSpPr>
        <p:spPr>
          <a:xfrm>
            <a:off x="226129" y="2514146"/>
            <a:ext cx="9358659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6000" dirty="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Seletor de     </a:t>
            </a:r>
            <a:r>
              <a:rPr lang="pt-PT" sz="6000" dirty="0" err="1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Pseudo-classe</a:t>
            </a:r>
            <a:r>
              <a:rPr lang="pt-PT" sz="6000" dirty="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:</a:t>
            </a:r>
            <a:br>
              <a:rPr lang="pt-PT" sz="6000" dirty="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</a:br>
            <a:endParaRPr lang="pt-PT" sz="6000" dirty="0">
              <a:solidFill>
                <a:schemeClr val="bg1"/>
              </a:solidFill>
              <a:latin typeface="Rockwell Extra Bold"/>
              <a:ea typeface="+mn-lt"/>
              <a:cs typeface="+mn-lt"/>
            </a:endParaRPr>
          </a:p>
          <a:p>
            <a:pPr algn="ctr"/>
            <a:r>
              <a:rPr lang="pt-PT" sz="6000" dirty="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 Estados específicos</a:t>
            </a:r>
            <a:endParaRPr lang="pt-PT" dirty="0">
              <a:solidFill>
                <a:schemeClr val="bg1"/>
              </a:solidFill>
              <a:latin typeface="Aptos"/>
              <a:ea typeface="+mn-lt"/>
              <a:cs typeface="+mn-lt"/>
            </a:endParaRPr>
          </a:p>
        </p:txBody>
      </p:sp>
      <p:sp>
        <p:nvSpPr>
          <p:cNvPr id="6" name="Paralelogramo 5">
            <a:extLst>
              <a:ext uri="{FF2B5EF4-FFF2-40B4-BE49-F238E27FC236}">
                <a16:creationId xmlns:a16="http://schemas.microsoft.com/office/drawing/2014/main" id="{CF831492-CFCD-8DF2-31D8-854E02E7B8FF}"/>
              </a:ext>
            </a:extLst>
          </p:cNvPr>
          <p:cNvSpPr/>
          <p:nvPr/>
        </p:nvSpPr>
        <p:spPr>
          <a:xfrm>
            <a:off x="1334282" y="7585032"/>
            <a:ext cx="6934853" cy="179349"/>
          </a:xfrm>
          <a:prstGeom prst="parallelogram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5029471-222F-8FE5-187F-7B75C9276790}"/>
              </a:ext>
            </a:extLst>
          </p:cNvPr>
          <p:cNvSpPr txBox="1"/>
          <p:nvPr/>
        </p:nvSpPr>
        <p:spPr>
          <a:xfrm>
            <a:off x="6139064" y="-3240"/>
            <a:ext cx="526058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9600" b="1" u="sng">
                <a:solidFill>
                  <a:schemeClr val="bg1"/>
                </a:solidFill>
                <a:latin typeface="Aptos"/>
                <a:ea typeface="HGGothicE"/>
              </a:rPr>
              <a:t>07</a:t>
            </a:r>
            <a:endParaRPr lang="pt-PT" sz="8000" b="1" u="sng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E3A2D2B-30FC-393A-5CD1-CB7260F4553F}"/>
              </a:ext>
            </a:extLst>
          </p:cNvPr>
          <p:cNvSpPr txBox="1"/>
          <p:nvPr/>
        </p:nvSpPr>
        <p:spPr>
          <a:xfrm>
            <a:off x="1626662" y="7999554"/>
            <a:ext cx="643146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Aplica estilos a elementos em estados especiais, como </a:t>
            </a:r>
            <a:r>
              <a:rPr lang="pt-PT" sz="2400" b="1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hover</a:t>
            </a:r>
            <a:r>
              <a:rPr lang="pt-PT" sz="2400" b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, foco ou ativo, para criar interações visuais.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168F4B74-BE2C-91D8-5BF7-456F2D1DF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15</a:t>
            </a:fld>
            <a:endParaRPr lang="pt-PT"/>
          </a:p>
        </p:txBody>
      </p:sp>
      <p:sp>
        <p:nvSpPr>
          <p:cNvPr id="2" name="Marcador de Posição do Rodapé 1">
            <a:extLst>
              <a:ext uri="{FF2B5EF4-FFF2-40B4-BE49-F238E27FC236}">
                <a16:creationId xmlns:a16="http://schemas.microsoft.com/office/drawing/2014/main" id="{A852E8B1-CBA8-A208-3BD0-9AB7331F3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</p:spTree>
    <p:extLst>
      <p:ext uri="{BB962C8B-B14F-4D97-AF65-F5344CB8AC3E}">
        <p14:creationId xmlns:p14="http://schemas.microsoft.com/office/powerpoint/2010/main" val="3845643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EBF5-2E3C-62D1-2A4B-E06AF3D4A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ulo_Componente">
            <a:extLst>
              <a:ext uri="{FF2B5EF4-FFF2-40B4-BE49-F238E27FC236}">
                <a16:creationId xmlns:a16="http://schemas.microsoft.com/office/drawing/2014/main" id="{7EF04427-0851-C9F3-38E7-3E580ABF73BF}"/>
              </a:ext>
            </a:extLst>
          </p:cNvPr>
          <p:cNvSpPr txBox="1"/>
          <p:nvPr/>
        </p:nvSpPr>
        <p:spPr>
          <a:xfrm>
            <a:off x="1485206" y="885728"/>
            <a:ext cx="663493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4000" b="1">
                <a:solidFill>
                  <a:srgbClr val="000000"/>
                </a:solidFill>
                <a:latin typeface="Lucida Sans Unicode"/>
                <a:ea typeface="+mn-lt"/>
                <a:cs typeface="Lucida Sans Unicode"/>
              </a:rPr>
              <a:t>Seletor de </a:t>
            </a:r>
            <a:r>
              <a:rPr lang="pt-PT" sz="4000" b="1" err="1">
                <a:solidFill>
                  <a:srgbClr val="000000"/>
                </a:solidFill>
                <a:latin typeface="Lucida Sans Unicode"/>
                <a:ea typeface="+mn-lt"/>
                <a:cs typeface="Lucida Sans Unicode"/>
              </a:rPr>
              <a:t>Pseudo-classe</a:t>
            </a:r>
            <a:r>
              <a:rPr lang="pt-PT" sz="4000" b="1">
                <a:solidFill>
                  <a:srgbClr val="000000"/>
                </a:solidFill>
                <a:latin typeface="Lucida Sans Unicode"/>
                <a:ea typeface="+mn-lt"/>
                <a:cs typeface="Lucida Sans Unicode"/>
              </a:rPr>
              <a:t> </a:t>
            </a:r>
            <a:endParaRPr lang="pt-BR"/>
          </a:p>
          <a:p>
            <a:endParaRPr lang="pt-PT" sz="3200"/>
          </a:p>
        </p:txBody>
      </p:sp>
      <p:sp>
        <p:nvSpPr>
          <p:cNvPr id="7" name="texto_componente">
            <a:extLst>
              <a:ext uri="{FF2B5EF4-FFF2-40B4-BE49-F238E27FC236}">
                <a16:creationId xmlns:a16="http://schemas.microsoft.com/office/drawing/2014/main" id="{8A0AFE4F-7174-DB89-5686-D14F8468EAE0}"/>
              </a:ext>
            </a:extLst>
          </p:cNvPr>
          <p:cNvSpPr txBox="1"/>
          <p:nvPr/>
        </p:nvSpPr>
        <p:spPr>
          <a:xfrm>
            <a:off x="1099377" y="2080863"/>
            <a:ext cx="742989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>
                <a:latin typeface="Calibri"/>
                <a:ea typeface="Calibri"/>
                <a:cs typeface="Calibri"/>
              </a:rPr>
              <a:t>O seletor de </a:t>
            </a:r>
            <a:r>
              <a:rPr lang="pt-PT" sz="2400" err="1">
                <a:latin typeface="Calibri"/>
                <a:ea typeface="Calibri"/>
                <a:cs typeface="Calibri"/>
              </a:rPr>
              <a:t>pseudo-classe</a:t>
            </a:r>
            <a:r>
              <a:rPr lang="pt-PT" sz="2400">
                <a:latin typeface="Calibri"/>
                <a:ea typeface="Calibri"/>
                <a:cs typeface="Calibri"/>
              </a:rPr>
              <a:t> estiliza elementos em estados específicos, como </a:t>
            </a:r>
            <a:r>
              <a:rPr lang="pt-PT" sz="2400" err="1">
                <a:latin typeface="Calibri"/>
                <a:ea typeface="Calibri"/>
                <a:cs typeface="Calibri"/>
              </a:rPr>
              <a:t>hover</a:t>
            </a:r>
            <a:r>
              <a:rPr lang="pt-PT" sz="2400">
                <a:latin typeface="Calibri"/>
                <a:ea typeface="Calibri"/>
                <a:cs typeface="Calibri"/>
              </a:rPr>
              <a:t>, foco ou ativo.</a:t>
            </a:r>
            <a:br>
              <a:rPr lang="pt-PT" sz="2400">
                <a:latin typeface="Calibri"/>
                <a:ea typeface="Calibri"/>
                <a:cs typeface="Calibri"/>
              </a:rPr>
            </a:br>
            <a:r>
              <a:rPr lang="pt-PT" sz="2400">
                <a:latin typeface="Calibri"/>
                <a:ea typeface="Calibri"/>
                <a:cs typeface="Calibri"/>
              </a:rPr>
              <a:t>Ele permite criar interações visuais sem usar JavaScript.</a:t>
            </a:r>
            <a:endParaRPr lang="pt-BR"/>
          </a:p>
          <a:p>
            <a:endParaRPr lang="pt-PT" sz="2400">
              <a:latin typeface="Calibri"/>
              <a:ea typeface="Calibri"/>
              <a:cs typeface="Calibri"/>
            </a:endParaRPr>
          </a:p>
          <a:p>
            <a:r>
              <a:rPr lang="pt-PT" sz="2400" b="1">
                <a:latin typeface="Calibri"/>
                <a:ea typeface="Calibri"/>
                <a:cs typeface="Calibri"/>
              </a:rPr>
              <a:t>Exemplo:</a:t>
            </a:r>
            <a:endParaRPr lang="pt-PT" b="1"/>
          </a:p>
          <a:p>
            <a:endParaRPr lang="pt-PT" sz="2400">
              <a:latin typeface="Calibri"/>
              <a:ea typeface="Calibri"/>
              <a:cs typeface="Calibri"/>
            </a:endParaRPr>
          </a:p>
          <a:p>
            <a:endParaRPr lang="pt-PT" sz="2400"/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454431BA-47E3-B64C-8CBF-662DC7A3B270}"/>
              </a:ext>
            </a:extLst>
          </p:cNvPr>
          <p:cNvSpPr/>
          <p:nvPr/>
        </p:nvSpPr>
        <p:spPr>
          <a:xfrm rot="10800000" flipH="1">
            <a:off x="868643" y="-9328"/>
            <a:ext cx="195016" cy="135747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1295CD04-3278-B5FF-9A71-752BFC847CF7}"/>
              </a:ext>
            </a:extLst>
          </p:cNvPr>
          <p:cNvSpPr txBox="1"/>
          <p:nvPr/>
        </p:nvSpPr>
        <p:spPr>
          <a:xfrm>
            <a:off x="741556" y="9547464"/>
            <a:ext cx="813242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 b="1" i="1">
                <a:latin typeface="Calibri"/>
                <a:ea typeface="Calibri"/>
                <a:cs typeface="Calibri"/>
              </a:rPr>
              <a:t>Resultado:</a:t>
            </a:r>
            <a:br>
              <a:rPr lang="pt-PT" sz="2400">
                <a:latin typeface="Calibri"/>
                <a:ea typeface="Calibri"/>
                <a:cs typeface="Calibri"/>
              </a:rPr>
            </a:br>
            <a:r>
              <a:rPr lang="pt-PT" sz="2400">
                <a:latin typeface="Calibri"/>
                <a:ea typeface="Calibri"/>
                <a:cs typeface="Calibri"/>
              </a:rPr>
              <a:t>Ao passar o mouse sobre os links, eles ficam laranja e em negrito.</a:t>
            </a:r>
            <a:endParaRPr lang="pt-PT">
              <a:latin typeface="Aptos"/>
              <a:ea typeface="Calibri"/>
              <a:cs typeface="Calibri"/>
            </a:endParaRPr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BE869CA6-DAB1-E060-268F-55DF07E93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16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A27B21D-85A7-390C-779D-E5C472AA7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  <p:pic>
        <p:nvPicPr>
          <p:cNvPr id="12" name="Imagem 11" descr="Teia Homem Aranha PNG Images | Vetores E Arquivos PSD | Download Grátis Em  Pngtree">
            <a:extLst>
              <a:ext uri="{FF2B5EF4-FFF2-40B4-BE49-F238E27FC236}">
                <a16:creationId xmlns:a16="http://schemas.microsoft.com/office/drawing/2014/main" id="{29E8115C-FAF6-3F70-B739-C2DA4FBFD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7" t="6058" r="-105" b="505"/>
          <a:stretch>
            <a:fillRect/>
          </a:stretch>
        </p:blipFill>
        <p:spPr>
          <a:xfrm rot="5400000">
            <a:off x="7731763" y="-87553"/>
            <a:ext cx="1773478" cy="1960923"/>
          </a:xfrm>
          <a:prstGeom prst="rect">
            <a:avLst/>
          </a:prstGeom>
        </p:spPr>
      </p:pic>
      <p:pic>
        <p:nvPicPr>
          <p:cNvPr id="2" name="Imagem 1" descr="Texto&#10;&#10;O conteúdo gerado por IA pode estar incorreto.">
            <a:extLst>
              <a:ext uri="{FF2B5EF4-FFF2-40B4-BE49-F238E27FC236}">
                <a16:creationId xmlns:a16="http://schemas.microsoft.com/office/drawing/2014/main" id="{D622E0BE-CE2E-CD07-9318-50BD8C705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6" y="4057650"/>
            <a:ext cx="9391650" cy="46863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9DCC80A9-1C78-4206-05B1-EDD069511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76" y="4057650"/>
            <a:ext cx="9391650" cy="46863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36082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1AD8A-6DEF-4AC2-DBE2-930725898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F7BC18C-D15C-FF52-1D30-6C01AF8D7607}"/>
              </a:ext>
            </a:extLst>
          </p:cNvPr>
          <p:cNvSpPr/>
          <p:nvPr/>
        </p:nvSpPr>
        <p:spPr>
          <a:xfrm>
            <a:off x="0" y="0"/>
            <a:ext cx="9625098" cy="12853392"/>
          </a:xfrm>
          <a:prstGeom prst="rect">
            <a:avLst/>
          </a:prstGeom>
          <a:solidFill>
            <a:srgbClr val="03212E"/>
          </a:solidFill>
          <a:ln>
            <a:solidFill>
              <a:srgbClr val="1D2E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594DE6A-AD38-9532-5B33-CDB6D8A9D087}"/>
              </a:ext>
            </a:extLst>
          </p:cNvPr>
          <p:cNvSpPr txBox="1"/>
          <p:nvPr/>
        </p:nvSpPr>
        <p:spPr>
          <a:xfrm>
            <a:off x="132816" y="5421827"/>
            <a:ext cx="935865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6000">
                <a:solidFill>
                  <a:schemeClr val="bg1"/>
                </a:solidFill>
                <a:latin typeface="Rockwell Extra Bold"/>
                <a:ea typeface="+mn-lt"/>
                <a:cs typeface="+mn-lt"/>
              </a:rPr>
              <a:t>Agradecimentos!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6" name="Paralelogramo 5">
            <a:extLst>
              <a:ext uri="{FF2B5EF4-FFF2-40B4-BE49-F238E27FC236}">
                <a16:creationId xmlns:a16="http://schemas.microsoft.com/office/drawing/2014/main" id="{8CAFD11B-E714-3678-6395-945D278885A7}"/>
              </a:ext>
            </a:extLst>
          </p:cNvPr>
          <p:cNvSpPr/>
          <p:nvPr/>
        </p:nvSpPr>
        <p:spPr>
          <a:xfrm>
            <a:off x="1334282" y="7585032"/>
            <a:ext cx="6934853" cy="179349"/>
          </a:xfrm>
          <a:prstGeom prst="parallelogram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2B520AD-104F-2B6A-395B-7DC19AB95B80}"/>
              </a:ext>
            </a:extLst>
          </p:cNvPr>
          <p:cNvSpPr txBox="1"/>
          <p:nvPr/>
        </p:nvSpPr>
        <p:spPr>
          <a:xfrm>
            <a:off x="6139064" y="-3240"/>
            <a:ext cx="526058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9600" b="1" u="sng" dirty="0">
                <a:solidFill>
                  <a:schemeClr val="bg1"/>
                </a:solidFill>
                <a:latin typeface="Aptos"/>
                <a:ea typeface="HGGothicE"/>
              </a:rPr>
              <a:t>08</a:t>
            </a:r>
            <a:endParaRPr lang="pt-PT" sz="8000" b="1" u="sng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BB2E65EC-767C-0961-B033-0E4CE7992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17</a:t>
            </a:fld>
            <a:endParaRPr lang="pt-PT"/>
          </a:p>
        </p:txBody>
      </p:sp>
      <p:sp>
        <p:nvSpPr>
          <p:cNvPr id="2" name="Marcador de Posição do Rodapé 1">
            <a:extLst>
              <a:ext uri="{FF2B5EF4-FFF2-40B4-BE49-F238E27FC236}">
                <a16:creationId xmlns:a16="http://schemas.microsoft.com/office/drawing/2014/main" id="{ADF364CA-E096-F72E-E990-EBEB5F5E9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</p:spTree>
    <p:extLst>
      <p:ext uri="{BB962C8B-B14F-4D97-AF65-F5344CB8AC3E}">
        <p14:creationId xmlns:p14="http://schemas.microsoft.com/office/powerpoint/2010/main" val="3834367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1133D-C23E-744F-7546-3661ECE8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ulo_Componente">
            <a:extLst>
              <a:ext uri="{FF2B5EF4-FFF2-40B4-BE49-F238E27FC236}">
                <a16:creationId xmlns:a16="http://schemas.microsoft.com/office/drawing/2014/main" id="{B9155AF7-7640-C460-C679-183AC3242CCD}"/>
              </a:ext>
            </a:extLst>
          </p:cNvPr>
          <p:cNvSpPr txBox="1"/>
          <p:nvPr/>
        </p:nvSpPr>
        <p:spPr>
          <a:xfrm>
            <a:off x="1485206" y="885728"/>
            <a:ext cx="6634933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4000" b="1" dirty="0">
                <a:solidFill>
                  <a:srgbClr val="000000"/>
                </a:solidFill>
                <a:latin typeface="Lucida Sans Unicode"/>
                <a:ea typeface="+mn-lt"/>
                <a:cs typeface="Lucida Sans Unicode"/>
              </a:rPr>
              <a:t>Obrigado por mergulhar nesta aventura CSS!</a:t>
            </a:r>
            <a:endParaRPr lang="pt-BR" dirty="0"/>
          </a:p>
          <a:p>
            <a:endParaRPr lang="pt-PT" sz="3200"/>
          </a:p>
        </p:txBody>
      </p:sp>
      <p:sp>
        <p:nvSpPr>
          <p:cNvPr id="7" name="texto_componente">
            <a:extLst>
              <a:ext uri="{FF2B5EF4-FFF2-40B4-BE49-F238E27FC236}">
                <a16:creationId xmlns:a16="http://schemas.microsoft.com/office/drawing/2014/main" id="{209FD7E8-9F5C-6EF7-3400-64FB659AF351}"/>
              </a:ext>
            </a:extLst>
          </p:cNvPr>
          <p:cNvSpPr txBox="1"/>
          <p:nvPr/>
        </p:nvSpPr>
        <p:spPr>
          <a:xfrm>
            <a:off x="1190077" y="3065601"/>
            <a:ext cx="7429899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pt-PT" sz="2400" dirty="0">
                <a:latin typeface="Calibri"/>
                <a:ea typeface="Calibri"/>
                <a:cs typeface="Calibri"/>
              </a:rPr>
            </a:br>
            <a:r>
              <a:rPr lang="pt-PT" sz="2400" dirty="0">
                <a:latin typeface="Calibri"/>
                <a:ea typeface="Calibri"/>
                <a:cs typeface="Calibri"/>
              </a:rPr>
              <a:t>Este </a:t>
            </a:r>
            <a:r>
              <a:rPr lang="pt-PT" sz="2400" dirty="0" err="1">
                <a:latin typeface="Calibri"/>
                <a:ea typeface="Calibri"/>
                <a:cs typeface="Calibri"/>
              </a:rPr>
              <a:t>eBook</a:t>
            </a:r>
            <a:r>
              <a:rPr lang="pt-PT" sz="2400" dirty="0">
                <a:latin typeface="Calibri"/>
                <a:ea typeface="Calibri"/>
                <a:cs typeface="Calibri"/>
              </a:rPr>
              <a:t> foi gerado por IA, e diagramado por humano, para ajudar você a se sentir confiante e poderoso no mundo do CSS, mas a verdadeira força está em sua dedicação e curiosidade. Que suas teias de código continuem firmes e suas páginas sempre espetaculares!</a:t>
            </a:r>
            <a:endParaRPr lang="pt-PT"/>
          </a:p>
          <a:p>
            <a:endParaRPr lang="pt-PT" sz="2400">
              <a:latin typeface="Calibri"/>
              <a:ea typeface="Calibri"/>
              <a:cs typeface="Calibri"/>
            </a:endParaRPr>
          </a:p>
          <a:p>
            <a:r>
              <a:rPr lang="pt-PT" sz="2400" dirty="0">
                <a:latin typeface="Calibri"/>
                <a:ea typeface="Calibri"/>
                <a:cs typeface="Calibri"/>
              </a:rPr>
              <a:t>O conteúdo apresentado foi feito para fins didáticos de construção, mas pode conter erros, pois não passou por nenhuma avaliação criteriosa.</a:t>
            </a:r>
            <a:endParaRPr lang="pt-PT" dirty="0"/>
          </a:p>
          <a:p>
            <a:endParaRPr lang="pt-PT" sz="2400">
              <a:latin typeface="Aptos" panose="020B0004020202020204"/>
              <a:ea typeface="Calibri"/>
              <a:cs typeface="Calibri"/>
            </a:endParaRPr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B2CB44C6-6D1D-9B9B-CC01-2A9B4D417D80}"/>
              </a:ext>
            </a:extLst>
          </p:cNvPr>
          <p:cNvSpPr/>
          <p:nvPr/>
        </p:nvSpPr>
        <p:spPr>
          <a:xfrm rot="10800000" flipH="1">
            <a:off x="868643" y="-9328"/>
            <a:ext cx="195016" cy="135747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4EFABD5B-01EB-B6EF-7575-A87CAD6B9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18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2FE53C3D-7078-184E-5A45-011C2DA17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Seletores CSS para heróis do código.</a:t>
            </a:r>
          </a:p>
        </p:txBody>
      </p:sp>
      <p:pic>
        <p:nvPicPr>
          <p:cNvPr id="12" name="Imagem 11" descr="Teia Homem Aranha PNG Images | Vetores E Arquivos PSD | Download Grátis Em  Pngtree">
            <a:extLst>
              <a:ext uri="{FF2B5EF4-FFF2-40B4-BE49-F238E27FC236}">
                <a16:creationId xmlns:a16="http://schemas.microsoft.com/office/drawing/2014/main" id="{399807D3-1DCB-9491-E19C-C58CD34405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7" t="6058" r="-105" b="505"/>
          <a:stretch>
            <a:fillRect/>
          </a:stretch>
        </p:blipFill>
        <p:spPr>
          <a:xfrm rot="5400000">
            <a:off x="7731763" y="-107618"/>
            <a:ext cx="1773478" cy="1960923"/>
          </a:xfrm>
          <a:prstGeom prst="rect">
            <a:avLst/>
          </a:prstGeom>
        </p:spPr>
      </p:pic>
      <p:pic>
        <p:nvPicPr>
          <p:cNvPr id="3" name="Imagem 2" descr="Uma imagem contendo Logotipo&#10;&#10;O conteúdo gerado por IA pode estar incorreto.">
            <a:extLst>
              <a:ext uri="{FF2B5EF4-FFF2-40B4-BE49-F238E27FC236}">
                <a16:creationId xmlns:a16="http://schemas.microsoft.com/office/drawing/2014/main" id="{CFB8B8F0-6749-E02C-481A-13F455A06C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67" b="671"/>
          <a:stretch>
            <a:fillRect/>
          </a:stretch>
        </p:blipFill>
        <p:spPr>
          <a:xfrm>
            <a:off x="2993674" y="8059106"/>
            <a:ext cx="3072461" cy="3102136"/>
          </a:xfrm>
          <a:prstGeom prst="rect">
            <a:avLst/>
          </a:prstGeom>
          <a:ln>
            <a:noFill/>
          </a:ln>
        </p:spPr>
      </p:pic>
      <p:sp>
        <p:nvSpPr>
          <p:cNvPr id="2" name="Balão de Fala: Oval 1">
            <a:extLst>
              <a:ext uri="{FF2B5EF4-FFF2-40B4-BE49-F238E27FC236}">
                <a16:creationId xmlns:a16="http://schemas.microsoft.com/office/drawing/2014/main" id="{FE2BCCC3-0517-CA5F-AB2B-DA1631A386A2}"/>
              </a:ext>
            </a:extLst>
          </p:cNvPr>
          <p:cNvSpPr/>
          <p:nvPr/>
        </p:nvSpPr>
        <p:spPr>
          <a:xfrm>
            <a:off x="5139720" y="7539323"/>
            <a:ext cx="2114112" cy="857526"/>
          </a:xfrm>
          <a:prstGeom prst="wedgeEllipseCallou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C25F8E4-964E-D39F-91BA-934F3ED021B9}"/>
              </a:ext>
            </a:extLst>
          </p:cNvPr>
          <p:cNvSpPr txBox="1"/>
          <p:nvPr/>
        </p:nvSpPr>
        <p:spPr>
          <a:xfrm>
            <a:off x="5555321" y="778365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i="1" dirty="0">
                <a:latin typeface="Calibri"/>
                <a:ea typeface="Calibri"/>
                <a:cs typeface="Calibri"/>
              </a:rPr>
              <a:t>Autora aqui!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F89253E-1594-E819-09C9-533920C82EB3}"/>
              </a:ext>
            </a:extLst>
          </p:cNvPr>
          <p:cNvSpPr txBox="1"/>
          <p:nvPr/>
        </p:nvSpPr>
        <p:spPr>
          <a:xfrm>
            <a:off x="6071206" y="902560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u="sng" dirty="0">
                <a:hlinkClick r:id="rId4"/>
              </a:rPr>
              <a:t>LinkedIn</a:t>
            </a:r>
            <a:endParaRPr lang="pt-BR" b="1" u="sng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17CA82B-EF9A-656E-0450-C456E561CC22}"/>
              </a:ext>
            </a:extLst>
          </p:cNvPr>
          <p:cNvSpPr txBox="1"/>
          <p:nvPr/>
        </p:nvSpPr>
        <p:spPr>
          <a:xfrm>
            <a:off x="6202565" y="947939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u="sng" dirty="0">
                <a:hlinkClick r:id="rId5"/>
              </a:rPr>
              <a:t>GitHub</a:t>
            </a:r>
            <a:endParaRPr lang="pt-BR" b="1" u="sng"/>
          </a:p>
        </p:txBody>
      </p:sp>
    </p:spTree>
    <p:extLst>
      <p:ext uri="{BB962C8B-B14F-4D97-AF65-F5344CB8AC3E}">
        <p14:creationId xmlns:p14="http://schemas.microsoft.com/office/powerpoint/2010/main" val="13744612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Papel A3 (297 x 420 mm)</PresentationFormat>
  <Slides>18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120</cp:revision>
  <dcterms:created xsi:type="dcterms:W3CDTF">2025-11-02T00:18:02Z</dcterms:created>
  <dcterms:modified xsi:type="dcterms:W3CDTF">2025-11-09T20:15:21Z</dcterms:modified>
</cp:coreProperties>
</file>